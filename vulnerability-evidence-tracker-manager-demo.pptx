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7eba31677f4bac" /><Relationship Type="http://schemas.openxmlformats.org/officeDocument/2006/relationships/extended-properties" Target="/docProps/app.xml" Id="Rde65b98d8fd640d9" /><Relationship Type="http://schemas.openxmlformats.org/officeDocument/2006/relationships/officeDocument" Target="/ppt/presentation.xml" Id="R7373f45757544e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da674f54a0486e"/>
  </p:sldMasterIdLst>
  <p:notesMasterIdLst>
    <p:notesMasterId xmlns:r="http://schemas.openxmlformats.org/officeDocument/2006/relationships" r:id="Ra8cd9d8f0c1243cf"/>
  </p:notesMasterIdLst>
  <p:sldIdLst>
    <p:sldId xmlns:r="http://schemas.openxmlformats.org/officeDocument/2006/relationships" id="256" r:id="Reac0ca85054b4f50"/>
    <p:sldId xmlns:r="http://schemas.openxmlformats.org/officeDocument/2006/relationships" id="257" r:id="R2ae29804d40e4450"/>
    <p:sldId xmlns:r="http://schemas.openxmlformats.org/officeDocument/2006/relationships" id="258" r:id="R9b71c6399e7f4958"/>
    <p:sldId xmlns:r="http://schemas.openxmlformats.org/officeDocument/2006/relationships" id="259" r:id="Rebafcb5358714e57"/>
    <p:sldId xmlns:r="http://schemas.openxmlformats.org/officeDocument/2006/relationships" id="260" r:id="R8da42edf465b46b7"/>
    <p:sldId xmlns:r="http://schemas.openxmlformats.org/officeDocument/2006/relationships" id="261" r:id="R09b92ed317b64fa3"/>
    <p:sldId xmlns:r="http://schemas.openxmlformats.org/officeDocument/2006/relationships" id="262" r:id="Rb061d40b4a29457a"/>
    <p:sldId xmlns:r="http://schemas.openxmlformats.org/officeDocument/2006/relationships" id="263" r:id="R79cd8502448f494e"/>
    <p:sldId xmlns:r="http://schemas.openxmlformats.org/officeDocument/2006/relationships" id="264" r:id="R9cc65edaa2704ccf"/>
    <p:sldId xmlns:r="http://schemas.openxmlformats.org/officeDocument/2006/relationships" id="265" r:id="R0939a30a78bd4f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82277158d74a89" /><Relationship Type="http://schemas.openxmlformats.org/officeDocument/2006/relationships/slideMaster" Target="/ppt/slideMasters/slideMaster1.xml" Id="R89da674f54a0486e" /><Relationship Type="http://schemas.openxmlformats.org/officeDocument/2006/relationships/notesMaster" Target="/ppt/notesMasters/notesMaster1.xml" Id="Ra8cd9d8f0c1243cf" /><Relationship Type="http://schemas.openxmlformats.org/officeDocument/2006/relationships/presProps" Target="/ppt/presProps.xml" Id="R258724c368e04214" /><Relationship Type="http://schemas.openxmlformats.org/officeDocument/2006/relationships/tableStyles" Target="/ppt/tableStyles.xml" Id="R15ab8fc13921404c" /><Relationship Type="http://schemas.openxmlformats.org/officeDocument/2006/relationships/slide" Target="/ppt/slides/slide1.xml" Id="Reac0ca85054b4f50" /><Relationship Type="http://schemas.openxmlformats.org/officeDocument/2006/relationships/slide" Target="/ppt/slides/slide2.xml" Id="R2ae29804d40e4450" /><Relationship Type="http://schemas.openxmlformats.org/officeDocument/2006/relationships/slide" Target="/ppt/slides/slide3.xml" Id="R9b71c6399e7f4958" /><Relationship Type="http://schemas.openxmlformats.org/officeDocument/2006/relationships/slide" Target="/ppt/slides/slide4.xml" Id="Rebafcb5358714e57" /><Relationship Type="http://schemas.openxmlformats.org/officeDocument/2006/relationships/slide" Target="/ppt/slides/slide5.xml" Id="R8da42edf465b46b7" /><Relationship Type="http://schemas.openxmlformats.org/officeDocument/2006/relationships/slide" Target="/ppt/slides/slide6.xml" Id="R09b92ed317b64fa3" /><Relationship Type="http://schemas.openxmlformats.org/officeDocument/2006/relationships/slide" Target="/ppt/slides/slide7.xml" Id="Rb061d40b4a29457a" /><Relationship Type="http://schemas.openxmlformats.org/officeDocument/2006/relationships/slide" Target="/ppt/slides/slide8.xml" Id="R79cd8502448f494e" /><Relationship Type="http://schemas.openxmlformats.org/officeDocument/2006/relationships/slide" Target="/ppt/slides/slide9.xml" Id="R9cc65edaa2704ccf" /><Relationship Type="http://schemas.openxmlformats.org/officeDocument/2006/relationships/slide" Target="/ppt/slides/slide10.xml" Id="R0939a30a78bd4f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c74fe1cd9140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985c8f49634731" /><Relationship Type="http://schemas.openxmlformats.org/officeDocument/2006/relationships/notesMaster" Target="/ppt/notesMasters/notesMaster1.xml" Id="Ra021d9411b8c49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9f5d8880f348a9" /><Relationship Type="http://schemas.openxmlformats.org/officeDocument/2006/relationships/notesMaster" Target="/ppt/notesMasters/notesMaster1.xml" Id="R07ec4267ebde46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11ec308d4f4274" /><Relationship Type="http://schemas.openxmlformats.org/officeDocument/2006/relationships/notesMaster" Target="/ppt/notesMasters/notesMaster1.xml" Id="Ra8bc2397704842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ef2ab786dc40ea" /><Relationship Type="http://schemas.openxmlformats.org/officeDocument/2006/relationships/notesMaster" Target="/ppt/notesMasters/notesMaster1.xml" Id="R76bcf8ec862c4e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62fb48a5154511" /><Relationship Type="http://schemas.openxmlformats.org/officeDocument/2006/relationships/notesMaster" Target="/ppt/notesMasters/notesMaster1.xml" Id="R5c799ec4df6649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67583e6dec4c11" /><Relationship Type="http://schemas.openxmlformats.org/officeDocument/2006/relationships/notesMaster" Target="/ppt/notesMasters/notesMaster1.xml" Id="Rb32dbe5468f242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c75895f11e469f" /><Relationship Type="http://schemas.openxmlformats.org/officeDocument/2006/relationships/notesMaster" Target="/ppt/notesMasters/notesMaster1.xml" Id="Rb0ec32353c444f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a8bb664f054436" /><Relationship Type="http://schemas.openxmlformats.org/officeDocument/2006/relationships/notesMaster" Target="/ppt/notesMasters/notesMaster1.xml" Id="Rb65bfe388c3d46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401dd3b71e44f5" /><Relationship Type="http://schemas.openxmlformats.org/officeDocument/2006/relationships/notesMaster" Target="/ppt/notesMasters/notesMaster1.xml" Id="R006f193171d64e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174a20a7134213" /><Relationship Type="http://schemas.openxmlformats.org/officeDocument/2006/relationships/notesMaster" Target="/ppt/notesMasters/notesMaster1.xml" Id="Rfe412250684d43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saying the previous request changed from PDF analysis to a governed intake and review app. Emphasize that the prototype demonstrates the work pattern before the Power Apps build.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clarifies the requirement change. The team no longer needs a script that analyzes uploaded documents. They need an operational app to store details, evidence, status, and review history.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each Microsoft service. Make the point that documents and screenshots stay in SharePoint while Dataverse keeps the searchable, reportable review fields.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click path for the live demo. Start on Dashboard, move into Reviews, attach evidence, then create a new manual intake. Keep Reports for the close.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KPI row, daily work summary, duplicate alerts, and handoff queue.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reviewers can update the selected record, add evidence, and see history in the same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manual intake fields and the evidence attachment area. Mention that Teams intake comes through Power Automate into the same review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daily counts, status distribution, source split, and analyst workload.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Clarify that Dataverse and SharePoint are linked. The app shows the right evidence for the selected record because Evidence rows point back to Security Review rows.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for approval on the storage pattern and MVP scope. Offer to convert the prototype into Power Apps screens after the manager agrees.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7b44ae73d542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42f2fbc0bd42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3aafc9881a4bc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99ff95781949c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c43a8b15a44a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6312783d204d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29D6F3-62B4-47DB-8A7D-C572BB904B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BE160B9-F100-4C07-9831-670C20A010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36C0FA6-C8C4-4045-B5C4-5E26234818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CA81AB-8B22-4390-9F5D-ABECA8E5A5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1D29330-96F5-4B26-9C59-F7663A7E1C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8F7B2C8-5DC8-4BD7-BF06-62475574E0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AAB545-E7DF-43D1-BD95-91AC1D94C2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703E6FE-2BBD-4995-9C3B-333FEEE612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04563E-1167-40E4-B2BF-095CCF15F6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8FE62E0-8374-4F81-B0B3-5F5471246F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204b05695e43d2" /><Relationship Type="http://schemas.openxmlformats.org/officeDocument/2006/relationships/slideLayout" Target="/ppt/slideLayouts/slideLayout1.xml" Id="R641838dbbdf24f8a" /><Relationship Type="http://schemas.openxmlformats.org/officeDocument/2006/relationships/slideLayout" Target="/ppt/slideLayouts/slideLayout2.xml" Id="R555c678756d54726" /><Relationship Type="http://schemas.openxmlformats.org/officeDocument/2006/relationships/slideLayout" Target="/ppt/slideLayouts/slideLayout3.xml" Id="R7fa0621fb62a48ff" /><Relationship Type="http://schemas.openxmlformats.org/officeDocument/2006/relationships/slideLayout" Target="/ppt/slideLayouts/slideLayout4.xml" Id="Ra7862733ab7f4322" /><Relationship Type="http://schemas.openxmlformats.org/officeDocument/2006/relationships/slideLayout" Target="/ppt/slideLayouts/slideLayout5.xml" Id="Rc74dd3efb88b4e1c" /><Relationship Type="http://schemas.openxmlformats.org/officeDocument/2006/relationships/slideLayout" Target="/ppt/slideLayouts/slideLayout6.xml" Id="R27bb12c56bb74d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1838dbbdf24f8a"/>
    <p:sldLayoutId xmlns:r="http://schemas.openxmlformats.org/officeDocument/2006/relationships" id="2147483650" r:id="R555c678756d54726"/>
    <p:sldLayoutId xmlns:r="http://schemas.openxmlformats.org/officeDocument/2006/relationships" id="2147483651" r:id="R7fa0621fb62a48ff"/>
    <p:sldLayoutId xmlns:r="http://schemas.openxmlformats.org/officeDocument/2006/relationships" id="2147483652" r:id="Ra7862733ab7f4322"/>
    <p:sldLayoutId xmlns:r="http://schemas.openxmlformats.org/officeDocument/2006/relationships" id="2147483653" r:id="Rc74dd3efb88b4e1c"/>
    <p:sldLayoutId xmlns:r="http://schemas.openxmlformats.org/officeDocument/2006/relationships" id="2147483654" r:id="R27bb12c56bb74d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64aa1446584db7" /><Relationship Type="http://schemas.openxmlformats.org/officeDocument/2006/relationships/notesSlide" Target="/ppt/notesSlides/notesSlide1.xml" Id="Rd635d4a2eaa342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afab5f60504187" /><Relationship Type="http://schemas.openxmlformats.org/officeDocument/2006/relationships/notesSlide" Target="/ppt/notesSlides/notesSlide2.xml" Id="R1c312f9b84d344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7c0848e14c43c4" /><Relationship Type="http://schemas.openxmlformats.org/officeDocument/2006/relationships/notesSlide" Target="/ppt/notesSlides/notesSlide3.xml" Id="Rf4f5d6822d1740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7c6e9904294390" /><Relationship Type="http://schemas.openxmlformats.org/officeDocument/2006/relationships/notesSlide" Target="/ppt/notesSlides/notesSlide4.xml" Id="R32a3d54c39194c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34925c4cf24aad" /><Relationship Type="http://schemas.openxmlformats.org/officeDocument/2006/relationships/image" Target="/ppt/media/image.png" Id="R0f5611bc7f0b47ac" /><Relationship Type="http://schemas.openxmlformats.org/officeDocument/2006/relationships/notesSlide" Target="/ppt/notesSlides/notesSlide5.xml" Id="Rdf68fa2150bc46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b8b5586359404b" /><Relationship Type="http://schemas.openxmlformats.org/officeDocument/2006/relationships/image" Target="/ppt/media/image2.png" Id="R8fbff85bf4314a54" /><Relationship Type="http://schemas.openxmlformats.org/officeDocument/2006/relationships/notesSlide" Target="/ppt/notesSlides/notesSlide6.xml" Id="Rf754ac45106243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1d50d17c364cf5" /><Relationship Type="http://schemas.openxmlformats.org/officeDocument/2006/relationships/image" Target="/ppt/media/image3.png" Id="Rc372edeb04214e41" /><Relationship Type="http://schemas.openxmlformats.org/officeDocument/2006/relationships/notesSlide" Target="/ppt/notesSlides/notesSlide7.xml" Id="Rb4b0a589d82f44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4ee0a557eb4e3a" /><Relationship Type="http://schemas.openxmlformats.org/officeDocument/2006/relationships/image" Target="/ppt/media/image4.png" Id="Rc281d876a44b4e0d" /><Relationship Type="http://schemas.openxmlformats.org/officeDocument/2006/relationships/notesSlide" Target="/ppt/notesSlides/notesSlide8.xml" Id="R806c159bd8fb41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d554cc032d44c0" /><Relationship Type="http://schemas.openxmlformats.org/officeDocument/2006/relationships/notesSlide" Target="/ppt/notesSlides/notesSlide9.xml" Id="R08d5fa438c9447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08f63756c84971" /><Relationship Type="http://schemas.openxmlformats.org/officeDocument/2006/relationships/notesSlide" Target="/ppt/notesSlides/notesSlide10.xml" Id="Rc7f41bd4994842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6116C5-6337-43D7-BC9B-D01B00A8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952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3F4F0"/>
          </a:solidFill>
          <a:ln xmlns:a="http://schemas.openxmlformats.org/drawingml/2006/main" w="9525">
            <a:solidFill>
              <a:srgbClr val="E3F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975" b="1">
                <a:solidFill>
                  <a:srgbClr val="1F7A70"/>
                </a:solidFill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1F7A70"/>
                </a:solidFill>
              </a:defRPr>
            </a:pPr>
            <a:r>
              <a:rPr sz="975" b="1">
                <a:solidFill>
                  <a:srgbClr val="1F7A70"/>
                </a:solidFill>
              </a:rPr>
              <a:t>Power Apps + Dataverse + SharePoint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4ECEF-3BBF-4450-BFFC-4594A41C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7211F"/>
                </a:solidFill>
              </a:defRPr>
            </a:pPr>
            <a:r>
              <a:rPr sz="3600" b="1">
                <a:solidFill>
                  <a:srgbClr val="17211F"/>
                </a:solidFill>
              </a:rPr>
              <a:t>Vulnerability Evidence Tracker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15220-2D85-4D75-BABB-D930C7E9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0716C"/>
                </a:solidFill>
              </a:defRPr>
            </a:pPr>
            <a:r>
              <a:rPr sz="1650" b="0">
                <a:solidFill>
                  <a:srgbClr val="60716C"/>
                </a:solidFill>
              </a:rPr>
              <a:t>Manager demo for the revised security review intake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332EF-ADF7-4570-8C8D-63286E25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90650"/>
            <a:ext cx="1619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87F39-C7AC-405B-B740-C431E9DC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2400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0716C"/>
                </a:solidFill>
              </a:defRPr>
            </a:pPr>
            <a:r>
              <a:rPr sz="825" b="1">
                <a:solidFill>
                  <a:srgbClr val="60716C"/>
                </a:solidFill>
              </a:rPr>
              <a:t>OPEN REVIEWS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B9292-0591-489D-87DD-E88B7708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5260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F7A70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F7A70"/>
                </a:solidFill>
              </a:defRPr>
            </a:pPr>
            <a:r>
              <a:rPr sz="2550" b="1">
                <a:solidFill>
                  <a:srgbClr val="1F7A70"/>
                </a:solidFill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628AE-49CA-4003-85FF-B2B0E7CC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390650"/>
            <a:ext cx="1619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AEAA5-F1AE-4B72-B943-EE9D9C27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52400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0716C"/>
                </a:solidFill>
              </a:defRPr>
            </a:pPr>
            <a:r>
              <a:rPr sz="825" b="1">
                <a:solidFill>
                  <a:srgbClr val="60716C"/>
                </a:solidFill>
              </a:rPr>
              <a:t>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77CEE-1AD3-419B-9AAF-39B0E554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5260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563EB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9CBE3-0EE8-4CC8-A32A-73F149F8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71750"/>
            <a:ext cx="1619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B1D9B-B609-49E4-9BCD-4458B464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0510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0716C"/>
                </a:solidFill>
              </a:defRPr>
            </a:pPr>
            <a:r>
              <a:rPr sz="825" b="1">
                <a:solidFill>
                  <a:srgbClr val="60716C"/>
                </a:solidFill>
              </a:rPr>
              <a:t>EVIDENCE ROWS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C5E58-B5C8-4C40-9848-B238DEBA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3370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8794E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8794E"/>
                </a:solidFill>
              </a:defRPr>
            </a:pPr>
            <a:r>
              <a:rPr sz="2550" b="1">
                <a:solidFill>
                  <a:srgbClr val="18794E"/>
                </a:solidFill>
              </a:rPr>
              <a:t>3+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B26404-558A-4810-B330-13282D68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1619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1A9E5-4662-4562-9D42-494696E1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05100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825" b="1">
                <a:solidFill>
                  <a:srgbClr val="60716C"/>
                </a:solidFill>
              </a:defRPr>
            </a:pPr>
            <a:r>
              <a:rPr sz="825" b="1">
                <a:solidFill>
                  <a:srgbClr val="60716C"/>
                </a:solidFill>
              </a:rPr>
              <a:t>AUDIT TRAIL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BEC912-43F9-4DC1-8EC2-86CDFF9F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16207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A16207"/>
                </a:solidFill>
              </a:defRPr>
            </a:pPr>
            <a:r>
              <a:rPr sz="2550" b="1">
                <a:solidFill>
                  <a:srgbClr val="A16207"/>
                </a:solidFill>
              </a:rPr>
              <a:t>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C7C79-E53F-4621-862D-810C8A6A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8915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1BBAFF-2AEB-4C78-B7BC-0A2C45E5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70"/>
          </a:solidFill>
          <a:ln xmlns:a="http://schemas.openxmlformats.org/drawingml/2006/main" w="0">
            <a:solidFill>
              <a:srgbClr val="1F7A7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90A538-EF73-432D-B103-30C2E130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8458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11F"/>
                </a:solidFill>
              </a:defRPr>
            </a:pPr>
            <a:r>
              <a:rPr sz="1575" b="1">
                <a:solidFill>
                  <a:srgbClr val="17211F"/>
                </a:solidFill>
              </a:rPr>
              <a:t>Demo message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C2A27B-C25D-4E0C-B177-B571687B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29200"/>
            <a:ext cx="845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716C"/>
                </a:solidFill>
              </a:defRPr>
            </a:pPr>
            <a:r>
              <a:rPr sz="1275" b="0">
                <a:solidFill>
                  <a:srgbClr val="60716C"/>
                </a:solidFill>
              </a:rPr>
              <a:t>The app gives analysts one place to enter vulnerability review details, attach evidence, flag duplicates, and continue work from a visible history chain.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A47569-F81B-44FC-9C3F-1C08062D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60716C"/>
                </a:solidFill>
              </a:defRPr>
            </a:pPr>
            <a:r>
              <a:rPr sz="750" b="0">
                <a:solidFill>
                  <a:srgbClr val="60716C"/>
                </a:solidFill>
              </a:rPr>
              <a:t>Prepared for manager demo</a:t>
            </a:r>
          </a:p>
        </p:txBody>
      </p:sp>
    </p:spTree>
    <p:extLst>
      <p:ext uri="{BB962C8B-B14F-4D97-AF65-F5344CB8AC3E}">
        <p14:creationId xmlns:p14="http://schemas.microsoft.com/office/powerpoint/2010/main" val="12752327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9DD9F0-F7D0-4E19-AFAA-15E7DCF3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F7A70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F7A70"/>
                </a:solidFill>
              </a:defRPr>
            </a:pPr>
            <a:r>
              <a:rPr sz="900" b="1">
                <a:solidFill>
                  <a:srgbClr val="1F7A70"/>
                </a:solidFill>
              </a:rPr>
              <a:t>SECURITY REVIEW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0D8C6-4C2A-47B7-A84E-9F11A5A1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11F"/>
                </a:solidFill>
              </a:defRPr>
            </a:pPr>
            <a:r>
              <a:rPr sz="2850" b="1">
                <a:solidFill>
                  <a:srgbClr val="17211F"/>
                </a:solidFill>
              </a:rPr>
              <a:t>Requirement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749EA-6AAE-4786-96F6-3533F62A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847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0716C"/>
                </a:solidFill>
              </a:defRPr>
            </a:pPr>
            <a:r>
              <a:rPr sz="1425" b="0">
                <a:solidFill>
                  <a:srgbClr val="60716C"/>
                </a:solidFill>
              </a:rPr>
              <a:t>The app now focuses on intake, evidence storage, duplicate checks, status tracking, and review continuity.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81E9C-94E1-46B3-A137-01912A59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60716C"/>
                </a:solidFill>
              </a:defRPr>
            </a:pPr>
            <a:r>
              <a:rPr sz="750" b="0">
                <a:solidFill>
                  <a:srgbClr val="60716C"/>
                </a:solidFill>
              </a:rPr>
              <a:t>Manager demo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7C61E-F7A4-482A-B73E-32A78FEF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857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DD389-BB67-48C5-A126-8BEC646D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B4231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B98D1-8DF4-4FE8-AE37-376A32EF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440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11F"/>
                </a:solidFill>
              </a:defRPr>
            </a:pPr>
            <a:r>
              <a:rPr sz="1575" b="1">
                <a:solidFill>
                  <a:srgbClr val="17211F"/>
                </a:solidFill>
              </a:rPr>
              <a:t>Removed from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13477-7311-4406-B005-614F8E0A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76550"/>
            <a:ext cx="4400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716C"/>
                </a:solidFill>
              </a:defRPr>
            </a:pPr>
            <a:r>
              <a:rPr sz="1275" b="0">
                <a:solidFill>
                  <a:srgbClr val="60716C"/>
                </a:solidFill>
              </a:rPr>
              <a:t>No custom Python script to read PDFs.</a:t>
            </a:r>
          </a:p>
          <a:p xmlns:a="http://schemas.openxmlformats.org/drawingml/2006/main">
            <a:pPr>
              <a:defRPr sz="1275" b="0">
                <a:solidFill>
                  <a:srgbClr val="60716C"/>
                </a:solidFill>
              </a:defRPr>
            </a:pPr>
            <a:r>
              <a:rPr sz="1275" b="0">
                <a:solidFill>
                  <a:srgbClr val="60716C"/>
                </a:solidFill>
              </a:rPr>
              <a:t>No Microsoft Graph API for the MVP.</a:t>
            </a:r>
          </a:p>
          <a:p xmlns:a="http://schemas.openxmlformats.org/drawingml/2006/main">
            <a:pPr>
              <a:defRPr sz="1275" b="0">
                <a:solidFill>
                  <a:srgbClr val="60716C"/>
                </a:solidFill>
              </a:defRPr>
            </a:pPr>
            <a:r>
              <a:rPr sz="1275" b="0">
                <a:solidFill>
                  <a:srgbClr val="60716C"/>
                </a:solidFill>
              </a:rPr>
              <a:t>No separate Teams intake screen in the app.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0617B-C9E2-4A18-9B95-BEAE1CF6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48577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CEE86-639E-4E56-8B05-D2DD1C08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solidFill>
              <a:srgbClr val="18794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74DD1A-A1A8-4D93-ABBD-27E135D6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95550"/>
            <a:ext cx="440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11F"/>
                </a:solidFill>
              </a:defRPr>
            </a:pPr>
            <a:r>
              <a:rPr sz="1575" b="1">
                <a:solidFill>
                  <a:srgbClr val="17211F"/>
                </a:solidFill>
              </a:rPr>
              <a:t>Included in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B2B7C4-F754-43DE-BE74-D92D1C0D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76550"/>
            <a:ext cx="4400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716C"/>
                </a:solidFill>
              </a:defRPr>
            </a:pPr>
            <a:r>
              <a:rPr sz="1275" b="0">
                <a:solidFill>
                  <a:srgbClr val="60716C"/>
                </a:solidFill>
              </a:rPr>
              <a:t>Manual review entry in Power Apps.</a:t>
            </a:r>
          </a:p>
          <a:p xmlns:a="http://schemas.openxmlformats.org/drawingml/2006/main">
            <a:pPr>
              <a:defRPr sz="1275" b="0">
                <a:solidFill>
                  <a:srgbClr val="60716C"/>
                </a:solidFill>
              </a:defRPr>
            </a:pPr>
            <a:r>
              <a:rPr sz="1275" b="0">
                <a:solidFill>
                  <a:srgbClr val="60716C"/>
                </a:solidFill>
              </a:rPr>
              <a:t>Teams channel messages handled by Power Automate.</a:t>
            </a:r>
          </a:p>
          <a:p xmlns:a="http://schemas.openxmlformats.org/drawingml/2006/main">
            <a:pPr>
              <a:defRPr sz="1275" b="0">
                <a:solidFill>
                  <a:srgbClr val="60716C"/>
                </a:solidFill>
              </a:defRPr>
            </a:pPr>
            <a:r>
              <a:rPr sz="1275" b="0">
                <a:solidFill>
                  <a:srgbClr val="60716C"/>
                </a:solidFill>
              </a:rPr>
              <a:t>Evidence stored in SharePoint and linked to Dataverse records.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090C16-7E05-49AF-9620-86AD888C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62500"/>
            <a:ext cx="7467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D4EB83-C7BD-42E6-BD0F-50ACEBEC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7625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70"/>
          </a:solidFill>
          <a:ln xmlns:a="http://schemas.openxmlformats.org/drawingml/2006/main" w="0">
            <a:solidFill>
              <a:srgbClr val="1F7A7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FF18B-C8D7-4EF3-BBD5-F805066C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33950"/>
            <a:ext cx="701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11F"/>
                </a:solidFill>
              </a:defRPr>
            </a:pPr>
            <a:r>
              <a:rPr sz="1575" b="1">
                <a:solidFill>
                  <a:srgbClr val="17211F"/>
                </a:solidFill>
              </a:rPr>
              <a:t>Manager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F8A0D0-4A55-4DD0-B3D9-6989151E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314950"/>
            <a:ext cx="701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716C"/>
                </a:solidFill>
              </a:defRPr>
            </a:pPr>
            <a:r>
              <a:rPr sz="1275" b="0">
                <a:solidFill>
                  <a:srgbClr val="60716C"/>
                </a:solidFill>
              </a:rPr>
              <a:t>Use Microsoft 365 native services first. Keep the app simple enough for analysts to use daily, while retaining audit history for handoff and review.</a:t>
            </a:r>
          </a:p>
        </p:txBody>
      </p:sp>
    </p:spTree>
    <p:extLst>
      <p:ext uri="{BB962C8B-B14F-4D97-AF65-F5344CB8AC3E}">
        <p14:creationId xmlns:p14="http://schemas.microsoft.com/office/powerpoint/2010/main" val="20586879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CC767B-6918-4D91-BB10-712AF60B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F7A70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F7A70"/>
                </a:solidFill>
              </a:defRPr>
            </a:pPr>
            <a:r>
              <a:rPr sz="900" b="1">
                <a:solidFill>
                  <a:srgbClr val="1F7A70"/>
                </a:solidFill>
              </a:rPr>
              <a:t>SECURITY REVIEW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61001-BCAB-42CD-A9D8-45DDDDC4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11F"/>
                </a:solidFill>
              </a:defRPr>
            </a:pPr>
            <a:r>
              <a:rPr sz="2850" b="1">
                <a:solidFill>
                  <a:srgbClr val="17211F"/>
                </a:solidFill>
              </a:rPr>
              <a:t>Microsoft 365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09A89-407A-4C4F-AC7C-A02CB52D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847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0716C"/>
                </a:solidFill>
              </a:defRPr>
            </a:pPr>
            <a:r>
              <a:rPr sz="1425" b="0">
                <a:solidFill>
                  <a:srgbClr val="60716C"/>
                </a:solidFill>
              </a:rPr>
              <a:t>Dataverse holds structured review data. SharePoint stores evidence files. Power Automate moves Teams messages into the review queue.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8A466-F8F1-4E28-B4F6-6A78AA73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60716C"/>
                </a:solidFill>
              </a:defRPr>
            </a:pPr>
            <a:r>
              <a:rPr sz="750" b="0">
                <a:solidFill>
                  <a:srgbClr val="60716C"/>
                </a:solidFill>
              </a:rPr>
              <a:t>Manager demo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7ECE90-34CB-4C70-8276-2B476D76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3812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B2326-C4BA-4E5C-8598-8334ED59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70"/>
          </a:solidFill>
          <a:ln xmlns:a="http://schemas.openxmlformats.org/drawingml/2006/main" w="0">
            <a:solidFill>
              <a:srgbClr val="1F7A7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3CA17-752C-46B1-938F-BA50AACF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05075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11F"/>
                </a:solidFill>
              </a:defRPr>
            </a:pPr>
            <a:r>
              <a:rPr sz="1575" b="1">
                <a:solidFill>
                  <a:srgbClr val="17211F"/>
                </a:solidFill>
              </a:rPr>
              <a:t>Power Apps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F2FC5-41BF-4F0A-81D7-353EFCC2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86075"/>
            <a:ext cx="1924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716C"/>
                </a:solidFill>
              </a:defRPr>
            </a:pPr>
            <a:r>
              <a:rPr sz="1275" b="0">
                <a:solidFill>
                  <a:srgbClr val="60716C"/>
                </a:solidFill>
              </a:rPr>
              <a:t>Analysts create records, update review fields, attach evidence, and continue work from history.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37E87-B22D-4BFA-BC7F-6B87657F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33625"/>
            <a:ext cx="23812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9FCBE-491A-45F1-AB85-2E923C83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33625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423502-3221-452F-8B37-C96BE41E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05075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11F"/>
                </a:solidFill>
              </a:defRPr>
            </a:pPr>
            <a:r>
              <a:rPr sz="1575" b="1">
                <a:solidFill>
                  <a:srgbClr val="17211F"/>
                </a:solidFill>
              </a:rPr>
              <a:t>Dataverse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1D057E-0F4D-4042-9B78-4761D44B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86075"/>
            <a:ext cx="1924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716C"/>
                </a:solidFill>
              </a:defRPr>
            </a:pPr>
            <a:r>
              <a:rPr sz="1275" b="0">
                <a:solidFill>
                  <a:srgbClr val="60716C"/>
                </a:solidFill>
              </a:rPr>
              <a:t>Security Review, Evidence, and Activity History tables hold the operational record.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F0E5C5-7977-477B-9879-9CB6FAC1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33625"/>
            <a:ext cx="23812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DA422D-4FBA-4404-A3BA-E36A71C9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33625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solidFill>
              <a:srgbClr val="1879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C8038C-CBA5-48DE-8DCC-194268B9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05075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11F"/>
                </a:solidFill>
              </a:defRPr>
            </a:pPr>
            <a:r>
              <a:rPr sz="1575" b="1">
                <a:solidFill>
                  <a:srgbClr val="17211F"/>
                </a:solidFill>
              </a:rPr>
              <a:t>SharePoint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66563E-F115-43B6-8A5F-ED235376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86075"/>
            <a:ext cx="1924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716C"/>
                </a:solidFill>
              </a:defRPr>
            </a:pPr>
            <a:r>
              <a:rPr sz="1275" b="0">
                <a:solidFill>
                  <a:srgbClr val="60716C"/>
                </a:solidFill>
              </a:rPr>
              <a:t>PDFs, PNGs, email screenshots, and file evidence stay in a controlled evidence library.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A52730-519B-4F02-8477-D23C87BB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33625"/>
            <a:ext cx="22479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9506B4-8901-4BCF-8B7F-FFC0A721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333625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6207"/>
          </a:solidFill>
          <a:ln xmlns:a="http://schemas.openxmlformats.org/drawingml/2006/main" w="0">
            <a:solidFill>
              <a:srgbClr val="A1620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90D657-3EC8-427E-967E-C1156F00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0507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11F"/>
                </a:solidFill>
              </a:defRPr>
            </a:pPr>
            <a:r>
              <a:rPr sz="1575" b="1">
                <a:solidFill>
                  <a:srgbClr val="17211F"/>
                </a:solidFill>
              </a:rPr>
              <a:t>Power Automate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7AD030-469F-4736-AB39-DF8399FD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86075"/>
            <a:ext cx="17907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716C"/>
                </a:solidFill>
              </a:defRPr>
            </a:pPr>
            <a:r>
              <a:rPr sz="1275" b="0">
                <a:solidFill>
                  <a:srgbClr val="60716C"/>
                </a:solidFill>
              </a:rPr>
              <a:t>Teams channel messages create or update review records and add Teams links as evidence.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A37332-7B03-4D62-A175-8E93F735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76800"/>
            <a:ext cx="868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1">
                <a:solidFill>
                  <a:srgbClr val="1F7A70"/>
                </a:solidFill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F7A70"/>
                </a:solidFill>
              </a:defRPr>
            </a:pPr>
            <a:r>
              <a:rPr sz="1800" b="1">
                <a:solidFill>
                  <a:srgbClr val="1F7A70"/>
                </a:solidFill>
              </a:rPr>
              <a:t>Primary duplicate key: CVE + Package + Container/Image + Version</a:t>
            </a:r>
          </a:p>
        </p:txBody>
      </p:sp>
    </p:spTree>
    <p:extLst>
      <p:ext uri="{BB962C8B-B14F-4D97-AF65-F5344CB8AC3E}">
        <p14:creationId xmlns:p14="http://schemas.microsoft.com/office/powerpoint/2010/main" val="17796927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FB1DDC-000F-4499-8110-1BC51965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F7A70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F7A70"/>
                </a:solidFill>
              </a:defRPr>
            </a:pPr>
            <a:r>
              <a:rPr sz="900" b="1">
                <a:solidFill>
                  <a:srgbClr val="1F7A70"/>
                </a:solidFill>
              </a:rPr>
              <a:t>SECURITY REVIEW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10DBA-F57E-481D-926F-DA5AF80E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11F"/>
                </a:solidFill>
              </a:defRPr>
            </a:pPr>
            <a:r>
              <a:rPr sz="2850" b="1">
                <a:solidFill>
                  <a:srgbClr val="17211F"/>
                </a:solidFill>
              </a:rPr>
              <a:t>Live demo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25935-F87A-4A51-BF5A-93B4FE13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847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0716C"/>
                </a:solidFill>
              </a:defRPr>
            </a:pPr>
            <a:r>
              <a:rPr sz="1425" b="0">
                <a:solidFill>
                  <a:srgbClr val="60716C"/>
                </a:solidFill>
              </a:rPr>
              <a:t>Use the prototype to show one complete analyst workflow in under five minutes.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B9FF4-FC1E-4C84-8CD6-B3527A6A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60716C"/>
                </a:solidFill>
              </a:defRPr>
            </a:pPr>
            <a:r>
              <a:rPr sz="750" b="0">
                <a:solidFill>
                  <a:srgbClr val="60716C"/>
                </a:solidFill>
              </a:rPr>
              <a:t>Manager demo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983D2-93C7-4B69-9FB3-302A0DFF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70"/>
          </a:solidFill>
          <a:ln xmlns:a="http://schemas.openxmlformats.org/drawingml/2006/main" w="0">
            <a:solidFill>
              <a:srgbClr val="1F7A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4D1E6F-A4FD-4C9B-B184-76B6EBB6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3360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11F"/>
                </a:solidFill>
              </a:defRPr>
            </a:pPr>
            <a:r>
              <a:rPr sz="1500" b="1">
                <a:solidFill>
                  <a:srgbClr val="17211F"/>
                </a:solidFill>
              </a:rPr>
              <a:t>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01A82-F021-4650-B0C4-642AB03F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19350"/>
            <a:ext cx="3886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0716C"/>
                </a:solidFill>
              </a:defRPr>
            </a:pPr>
            <a:r>
              <a:rPr sz="1125" b="0">
                <a:solidFill>
                  <a:srgbClr val="60716C"/>
                </a:solidFill>
              </a:rPr>
              <a:t>Show daily status, open work, duplicate alerts, and source counts.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5550A-1BD9-4BEE-93BB-B7E67577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FA625-47DB-4878-9A70-FEA5CCD5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2420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11F"/>
                </a:solidFill>
              </a:defRPr>
            </a:pPr>
            <a:r>
              <a:rPr sz="1500" b="1">
                <a:solidFill>
                  <a:srgbClr val="17211F"/>
                </a:solidFill>
              </a:rPr>
              <a:t>Reviews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CFE0C1-B69A-45C2-B3A0-6E388A74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09950"/>
            <a:ext cx="3886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0716C"/>
                </a:solidFill>
              </a:defRPr>
            </a:pPr>
            <a:r>
              <a:rPr sz="1125" b="0">
                <a:solidFill>
                  <a:srgbClr val="60716C"/>
                </a:solidFill>
              </a:rPr>
              <a:t>Select a record, update fields, change status, and confirm the source flag.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4B421-4D2A-4CC9-A82E-0239C3C3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94E"/>
          </a:solidFill>
          <a:ln xmlns:a="http://schemas.openxmlformats.org/drawingml/2006/main" w="0">
            <a:solidFill>
              <a:srgbClr val="18794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18143-0D6A-497F-8525-4BE30B15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1480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11F"/>
                </a:solidFill>
              </a:defRPr>
            </a:pPr>
            <a:r>
              <a:rPr sz="1500" b="1">
                <a:solidFill>
                  <a:srgbClr val="17211F"/>
                </a:solidFill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AB380B-CF90-4B7B-8C4D-E574A66E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400550"/>
            <a:ext cx="3886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0716C"/>
                </a:solidFill>
              </a:defRPr>
            </a:pPr>
            <a:r>
              <a:rPr sz="1125" b="0">
                <a:solidFill>
                  <a:srgbClr val="60716C"/>
                </a:solidFill>
              </a:rPr>
              <a:t>Attach a PDF, PNG, email screenshot, Teams link, or manual screen capture.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9FFF2-E24E-4D85-AD72-275552B6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52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16207"/>
          </a:solidFill>
          <a:ln xmlns:a="http://schemas.openxmlformats.org/drawingml/2006/main" w="0">
            <a:solidFill>
              <a:srgbClr val="A1620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A6D11-19D3-4D47-A8BE-73A2597A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3360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11F"/>
                </a:solidFill>
              </a:defRPr>
            </a:pPr>
            <a:r>
              <a:rPr sz="1500" b="1">
                <a:solidFill>
                  <a:srgbClr val="17211F"/>
                </a:solidFill>
              </a:rPr>
              <a:t>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3368C1-61D3-403D-BF64-80459F18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19350"/>
            <a:ext cx="3886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0716C"/>
                </a:solidFill>
              </a:defRPr>
            </a:pPr>
            <a:r>
              <a:rPr sz="1125" b="0">
                <a:solidFill>
                  <a:srgbClr val="60716C"/>
                </a:solidFill>
              </a:rPr>
              <a:t>Show what changed, who changed it, source, date, and version count.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33AE3D-9052-4111-BC9D-C64CD70B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70"/>
          </a:solidFill>
          <a:ln xmlns:a="http://schemas.openxmlformats.org/drawingml/2006/main" w="0">
            <a:solidFill>
              <a:srgbClr val="1F7A7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81D3BB-C0FF-48F7-B833-D2BCA9B0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12420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11F"/>
                </a:solidFill>
              </a:defRPr>
            </a:pPr>
            <a:r>
              <a:rPr sz="1500" b="1">
                <a:solidFill>
                  <a:srgbClr val="17211F"/>
                </a:solidFill>
              </a:rPr>
              <a:t>New Intake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1ACF71-7936-4465-9FFE-0BF6B4A4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09950"/>
            <a:ext cx="3886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0716C"/>
                </a:solidFill>
              </a:defRPr>
            </a:pPr>
            <a:r>
              <a:rPr sz="1125" b="0">
                <a:solidFill>
                  <a:srgbClr val="60716C"/>
                </a:solidFill>
              </a:rPr>
              <a:t>Create a new review with optional evidence and duplicate warning.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3E4FE5-2DD7-4F3B-9048-37C6CDC2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6A52B7-F87F-4FD7-B074-BE6EB9A6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11480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211F"/>
                </a:solidFill>
              </a:defRPr>
            </a:pPr>
            <a:r>
              <a:rPr sz="1500" b="1">
                <a:solidFill>
                  <a:srgbClr val="17211F"/>
                </a:solidFill>
              </a:rPr>
              <a:t>Reports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7AE94A-26E2-4422-AFAB-C7DDD0FE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00550"/>
            <a:ext cx="3886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0716C"/>
                </a:solidFill>
              </a:defRPr>
            </a:pPr>
            <a:r>
              <a:rPr sz="1125" b="0">
                <a:solidFill>
                  <a:srgbClr val="60716C"/>
                </a:solidFill>
              </a:rPr>
              <a:t>Show daily throughput, status counts, source counts, and analyst workload.</a:t>
            </a:r>
          </a:p>
        </p:txBody>
      </p:sp>
    </p:spTree>
    <p:extLst>
      <p:ext uri="{BB962C8B-B14F-4D97-AF65-F5344CB8AC3E}">
        <p14:creationId xmlns:p14="http://schemas.microsoft.com/office/powerpoint/2010/main" val="13477638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B1ED0-0F5A-471E-9D52-50E74B8B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11F"/>
                </a:solidFill>
              </a:defRPr>
            </a:pPr>
            <a:r>
              <a:rPr sz="2550" b="1">
                <a:solidFill>
                  <a:srgbClr val="17211F"/>
                </a:solidFill>
              </a:rPr>
              <a:t>Dashboard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C39BB-91B7-4377-88F9-698D8EEF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>
                <a:solidFill>
                  <a:srgbClr val="1F7A70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1F7A70"/>
                </a:solidFill>
              </a:defRPr>
            </a:pPr>
            <a:r>
              <a:rPr sz="975" b="1">
                <a:solidFill>
                  <a:srgbClr val="1F7A70"/>
                </a:solidFill>
              </a:rPr>
              <a:t>Prototype screen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F04696-69E5-4CA7-AB10-0D38D5DCF6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611bc7f0b47ac"/>
          <a:stretch xmlns:a="http://schemas.openxmlformats.org/drawingml/2006/main"/>
        </p:blipFill>
        <p:spPr>
          <a:xfrm xmlns:a="http://schemas.openxmlformats.org/drawingml/2006/main">
            <a:off x="1009650" y="991791"/>
            <a:ext cx="10172700" cy="5722144"/>
          </a:xfrm>
          <a:prstGeom xmlns:a="http://schemas.openxmlformats.org/drawingml/2006/main" prst="roundRect">
            <a:avLst>
              <a:gd name="adj" fmla="val 1331"/>
            </a:avLst>
          </a:prstGeom>
        </p:spPr>
      </p:pic>
    </p:spTree>
    <p:extLst>
      <p:ext uri="{BB962C8B-B14F-4D97-AF65-F5344CB8AC3E}">
        <p14:creationId xmlns:p14="http://schemas.microsoft.com/office/powerpoint/2010/main" val="16822837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70722-695A-45D4-B4BF-08DAD46A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11F"/>
                </a:solidFill>
              </a:defRPr>
            </a:pPr>
            <a:r>
              <a:rPr sz="2550" b="1">
                <a:solidFill>
                  <a:srgbClr val="17211F"/>
                </a:solidFill>
              </a:rPr>
              <a:t>Reviews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CD09F-DEB4-432E-9D57-BD9CE149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>
                <a:solidFill>
                  <a:srgbClr val="1F7A70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1F7A70"/>
                </a:solidFill>
              </a:defRPr>
            </a:pPr>
            <a:r>
              <a:rPr sz="975" b="1">
                <a:solidFill>
                  <a:srgbClr val="1F7A70"/>
                </a:solidFill>
              </a:rPr>
              <a:t>Prototype screen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3516A-A0A9-44E4-BF3D-1B47ADD9BE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bff85bf4314a54"/>
          <a:stretch xmlns:a="http://schemas.openxmlformats.org/drawingml/2006/main"/>
        </p:blipFill>
        <p:spPr>
          <a:xfrm xmlns:a="http://schemas.openxmlformats.org/drawingml/2006/main">
            <a:off x="1009650" y="991791"/>
            <a:ext cx="10172700" cy="5722144"/>
          </a:xfrm>
          <a:prstGeom xmlns:a="http://schemas.openxmlformats.org/drawingml/2006/main" prst="roundRect">
            <a:avLst>
              <a:gd name="adj" fmla="val 1331"/>
            </a:avLst>
          </a:prstGeom>
        </p:spPr>
      </p:pic>
    </p:spTree>
    <p:extLst>
      <p:ext uri="{BB962C8B-B14F-4D97-AF65-F5344CB8AC3E}">
        <p14:creationId xmlns:p14="http://schemas.microsoft.com/office/powerpoint/2010/main" val="17318370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9E145-7F08-419D-9374-FB856773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11F"/>
                </a:solidFill>
              </a:defRPr>
            </a:pPr>
            <a:r>
              <a:rPr sz="2550" b="1">
                <a:solidFill>
                  <a:srgbClr val="17211F"/>
                </a:solidFill>
              </a:rPr>
              <a:t>New Intake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CA8E6-FDB3-46EE-94C1-8FE9E0AE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>
                <a:solidFill>
                  <a:srgbClr val="1F7A70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1F7A70"/>
                </a:solidFill>
              </a:defRPr>
            </a:pPr>
            <a:r>
              <a:rPr sz="975" b="1">
                <a:solidFill>
                  <a:srgbClr val="1F7A70"/>
                </a:solidFill>
              </a:rPr>
              <a:t>Prototype screen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9A525-7EC0-43F9-BF5B-841B441C9B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2edeb04214e41"/>
          <a:stretch xmlns:a="http://schemas.openxmlformats.org/drawingml/2006/main"/>
        </p:blipFill>
        <p:spPr>
          <a:xfrm xmlns:a="http://schemas.openxmlformats.org/drawingml/2006/main">
            <a:off x="1009650" y="991791"/>
            <a:ext cx="10172700" cy="5722144"/>
          </a:xfrm>
          <a:prstGeom xmlns:a="http://schemas.openxmlformats.org/drawingml/2006/main" prst="roundRect">
            <a:avLst>
              <a:gd name="adj" fmla="val 1331"/>
            </a:avLst>
          </a:prstGeom>
        </p:spPr>
      </p:pic>
    </p:spTree>
    <p:extLst>
      <p:ext uri="{BB962C8B-B14F-4D97-AF65-F5344CB8AC3E}">
        <p14:creationId xmlns:p14="http://schemas.microsoft.com/office/powerpoint/2010/main" val="9739526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18477-F668-4E06-9B92-44B16B4C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11F"/>
                </a:solidFill>
              </a:defRPr>
            </a:pPr>
            <a:r>
              <a:rPr sz="2550" b="1">
                <a:solidFill>
                  <a:srgbClr val="17211F"/>
                </a:solidFill>
              </a:rPr>
              <a:t>Reports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70803-B8B2-40F7-A15F-EFAA6765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975" b="1">
                <a:solidFill>
                  <a:srgbClr val="1F7A70"/>
                </a:solidFill>
              </a:defRPr>
            </a:defPPr>
          </a:lstStyle>
          <a:p xmlns:a="http://schemas.openxmlformats.org/drawingml/2006/main">
            <a:pPr algn="r">
              <a:defRPr sz="975" b="1">
                <a:solidFill>
                  <a:srgbClr val="1F7A70"/>
                </a:solidFill>
              </a:defRPr>
            </a:pPr>
            <a:r>
              <a:rPr sz="975" b="1">
                <a:solidFill>
                  <a:srgbClr val="1F7A70"/>
                </a:solidFill>
              </a:rPr>
              <a:t>Prototype screen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9E1F8-E4B3-4A31-90E1-3E1EF28674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1d876a44b4e0d"/>
          <a:stretch xmlns:a="http://schemas.openxmlformats.org/drawingml/2006/main"/>
        </p:blipFill>
        <p:spPr>
          <a:xfrm xmlns:a="http://schemas.openxmlformats.org/drawingml/2006/main">
            <a:off x="1009650" y="991791"/>
            <a:ext cx="10172700" cy="5722144"/>
          </a:xfrm>
          <a:prstGeom xmlns:a="http://schemas.openxmlformats.org/drawingml/2006/main" prst="roundRect">
            <a:avLst>
              <a:gd name="adj" fmla="val 1331"/>
            </a:avLst>
          </a:prstGeom>
        </p:spPr>
      </p:pic>
    </p:spTree>
    <p:extLst>
      <p:ext uri="{BB962C8B-B14F-4D97-AF65-F5344CB8AC3E}">
        <p14:creationId xmlns:p14="http://schemas.microsoft.com/office/powerpoint/2010/main" val="8521681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45C636-4749-4741-9386-03153BA6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F7A70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F7A70"/>
                </a:solidFill>
              </a:defRPr>
            </a:pPr>
            <a:r>
              <a:rPr sz="900" b="1">
                <a:solidFill>
                  <a:srgbClr val="1F7A70"/>
                </a:solidFill>
              </a:rPr>
              <a:t>SECURITY REVIEW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9ECE8-D0D8-46F3-8F83-D8C76F7B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11F"/>
                </a:solidFill>
              </a:defRPr>
            </a:pPr>
            <a:r>
              <a:rPr sz="2850" b="1">
                <a:solidFill>
                  <a:srgbClr val="17211F"/>
                </a:solidFill>
              </a:rPr>
              <a:t>Data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F7C2F-C460-4F71-8AB1-28D58A07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847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0716C"/>
                </a:solidFill>
              </a:defRPr>
            </a:pPr>
            <a:r>
              <a:rPr sz="1425" b="0">
                <a:solidFill>
                  <a:srgbClr val="60716C"/>
                </a:solidFill>
              </a:rPr>
              <a:t>The model separates review facts, evidence references, and audit history while keeping every item connected.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184E3-71AF-4A27-8147-16409265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60716C"/>
                </a:solidFill>
              </a:defRPr>
            </a:pPr>
            <a:r>
              <a:rPr sz="750" b="0">
                <a:solidFill>
                  <a:srgbClr val="60716C"/>
                </a:solidFill>
              </a:rPr>
              <a:t>Manager demo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EB26C-0A99-48A8-BD22-F4BF05AB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11106150" cy="25146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C561F-E799-41E7-855D-AE5713BE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4F0"/>
          </a:solidFill>
          <a:ln xmlns:a="http://schemas.openxmlformats.org/drawingml/2006/main" w="4763">
            <a:solidFill>
              <a:srgbClr val="D6DF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39580-0016-4803-94EA-A266ACE4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33625"/>
            <a:ext cx="1771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F7A70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F7A70"/>
                </a:solidFill>
              </a:defRPr>
            </a:pPr>
            <a:r>
              <a:rPr sz="1050" b="1">
                <a:solidFill>
                  <a:srgbClr val="1F7A70"/>
                </a:solidFill>
              </a:rPr>
              <a:t>Table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EB8A5E-83DB-4294-BF82-3CCD846F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333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4F0"/>
          </a:solidFill>
          <a:ln xmlns:a="http://schemas.openxmlformats.org/drawingml/2006/main" w="4763">
            <a:solidFill>
              <a:srgbClr val="D6DF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634CC-A59A-4743-BA9C-FC4FA1DC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33625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F7A70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F7A70"/>
                </a:solidFill>
              </a:defRPr>
            </a:pPr>
            <a:r>
              <a:rPr sz="1050" b="1">
                <a:solidFill>
                  <a:srgbClr val="1F7A70"/>
                </a:solidFill>
              </a:rPr>
              <a:t>Purpose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C305E2-6248-4DDE-B49A-E3A1F814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5772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4F0"/>
          </a:solidFill>
          <a:ln xmlns:a="http://schemas.openxmlformats.org/drawingml/2006/main" w="4763">
            <a:solidFill>
              <a:srgbClr val="D6DF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46ECF1-470B-4BFF-A886-3F534B56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33625"/>
            <a:ext cx="554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F7A70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F7A70"/>
                </a:solidFill>
              </a:defRPr>
            </a:pPr>
            <a:r>
              <a:rPr sz="1050" b="1">
                <a:solidFill>
                  <a:srgbClr val="1F7A70"/>
                </a:solidFill>
              </a:rPr>
              <a:t>Key fields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3B2040-E5F6-42B3-A7BF-DA81B94F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62275"/>
            <a:ext cx="1771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211F"/>
                </a:solidFill>
              </a:defRPr>
            </a:pPr>
            <a:r>
              <a:rPr sz="975" b="0">
                <a:solidFill>
                  <a:srgbClr val="17211F"/>
                </a:solidFill>
              </a:rPr>
              <a:t>Security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C9A473-D4D4-4226-8773-E066DDD7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62275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211F"/>
                </a:solidFill>
              </a:defRPr>
            </a:pPr>
            <a:r>
              <a:rPr sz="975" b="0">
                <a:solidFill>
                  <a:srgbClr val="17211F"/>
                </a:solidFill>
              </a:rPr>
              <a:t>Main review record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1BAA24-7020-4711-A429-2014D26C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62275"/>
            <a:ext cx="554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211F"/>
                </a:solidFill>
              </a:defRPr>
            </a:pPr>
            <a:r>
              <a:rPr sz="975" b="0">
                <a:solidFill>
                  <a:srgbClr val="17211F"/>
                </a:solidFill>
              </a:rPr>
              <a:t>CVE, package, container, version, team, analyst, status, 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AD060A-89B3-4467-B22E-06F262B4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90925"/>
            <a:ext cx="1771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211F"/>
                </a:solidFill>
              </a:defRPr>
            </a:pPr>
            <a:r>
              <a:rPr sz="975" b="0">
                <a:solidFill>
                  <a:srgbClr val="17211F"/>
                </a:solidFill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AC73A1-2A14-477F-9402-8CE28A66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90925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211F"/>
                </a:solidFill>
              </a:defRPr>
            </a:pPr>
            <a:r>
              <a:rPr sz="975" b="0">
                <a:solidFill>
                  <a:srgbClr val="17211F"/>
                </a:solidFill>
              </a:rPr>
              <a:t>File and message references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7C448E-E56A-4A92-BEC2-7865A3A3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90925"/>
            <a:ext cx="554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211F"/>
                </a:solidFill>
              </a:defRPr>
            </a:pPr>
            <a:r>
              <a:rPr sz="975" b="0">
                <a:solidFill>
                  <a:srgbClr val="17211F"/>
                </a:solidFill>
              </a:rPr>
              <a:t>Review lookup, type, title, SharePoint link, Teams link, added by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9BF7A7-9199-4725-8A91-CE5769C2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9575"/>
            <a:ext cx="1771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211F"/>
                </a:solidFill>
              </a:defRPr>
            </a:pPr>
            <a:r>
              <a:rPr sz="975" b="0">
                <a:solidFill>
                  <a:srgbClr val="17211F"/>
                </a:solidFill>
              </a:rPr>
              <a:t>Activity History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B893F-45B6-43FB-B882-86750D38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19575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211F"/>
                </a:solidFill>
              </a:defRPr>
            </a:pPr>
            <a:r>
              <a:rPr sz="975" b="0">
                <a:solidFill>
                  <a:srgbClr val="17211F"/>
                </a:solidFill>
              </a:rPr>
              <a:t>Version and handoff chain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D59A8A-D254-46C4-BF1D-848E7FA4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19575"/>
            <a:ext cx="5543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17211F"/>
                </a:solidFill>
              </a:defRPr>
            </a:pPr>
            <a:r>
              <a:rPr sz="975" b="0">
                <a:solidFill>
                  <a:srgbClr val="17211F"/>
                </a:solidFill>
              </a:rPr>
              <a:t>Review lookup, action, detail, actor, source, 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406A5E-2DCA-4659-9F4C-1A2BE750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435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1F7A70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F7A70"/>
                </a:solidFill>
              </a:defRPr>
            </a:pPr>
            <a:r>
              <a:rPr sz="1650" b="1">
                <a:solidFill>
                  <a:srgbClr val="1F7A70"/>
                </a:solidFill>
              </a:rPr>
              <a:t>Recommendation: keep files in SharePoint and keep metadata in Dataverse.</a:t>
            </a:r>
          </a:p>
        </p:txBody>
      </p:sp>
    </p:spTree>
    <p:extLst>
      <p:ext uri="{BB962C8B-B14F-4D97-AF65-F5344CB8AC3E}">
        <p14:creationId xmlns:p14="http://schemas.microsoft.com/office/powerpoint/2010/main" val="12761949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2F4456-B644-4356-80C2-FDEC9784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F7A70"/>
                </a:solidFill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1F7A70"/>
                </a:solidFill>
              </a:defRPr>
            </a:pPr>
            <a:r>
              <a:rPr sz="900" b="1">
                <a:solidFill>
                  <a:srgbClr val="1F7A70"/>
                </a:solidFill>
              </a:rPr>
              <a:t>SECURITY REVIEW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0C917-1218-4EE8-A04B-2EBB47C6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11F"/>
                </a:solidFill>
              </a:defRPr>
            </a:pPr>
            <a:r>
              <a:rPr sz="2850" b="1">
                <a:solidFill>
                  <a:srgbClr val="17211F"/>
                </a:solidFill>
              </a:rPr>
              <a:t>Build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962D5-D7F1-434A-B4C2-56D85561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847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0716C"/>
                </a:solidFill>
              </a:defRPr>
            </a:pPr>
            <a:r>
              <a:rPr sz="1425" b="0">
                <a:solidFill>
                  <a:srgbClr val="60716C"/>
                </a:solidFill>
              </a:rPr>
              <a:t>The next step is a Power Apps MVP using the same screens and data relationships shown in the prototype.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8FA10-564D-45E4-9432-BCE0446E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60716C"/>
                </a:solidFill>
              </a:defRPr>
            </a:pPr>
            <a:r>
              <a:rPr sz="750" b="0">
                <a:solidFill>
                  <a:srgbClr val="60716C"/>
                </a:solidFill>
              </a:rPr>
              <a:t>Manager demo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546FD-192F-4814-954D-39F8E69A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70"/>
          </a:solidFill>
          <a:ln xmlns:a="http://schemas.openxmlformats.org/drawingml/2006/main" w="0">
            <a:solidFill>
              <a:srgbClr val="1F7A7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88EC9-C292-4A13-8528-72B2F5CD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43150"/>
            <a:ext cx="925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11F"/>
                </a:solidFill>
              </a:defRPr>
            </a:pPr>
            <a:r>
              <a:rPr sz="1350" b="0">
                <a:solidFill>
                  <a:srgbClr val="17211F"/>
                </a:solidFill>
              </a:rPr>
              <a:t>Create Dataverse tables for Security Review, Evidence, and Activity History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CA0C11-954A-4EBF-A1A5-AAD773CB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47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70"/>
          </a:solidFill>
          <a:ln xmlns:a="http://schemas.openxmlformats.org/drawingml/2006/main" w="0">
            <a:solidFill>
              <a:srgbClr val="1F7A7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17E30-1BD5-4CF1-93BB-63EDFD7A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90825"/>
            <a:ext cx="925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11F"/>
                </a:solidFill>
              </a:defRPr>
            </a:pPr>
            <a:r>
              <a:rPr sz="1350" b="0">
                <a:solidFill>
                  <a:srgbClr val="17211F"/>
                </a:solidFill>
              </a:rPr>
              <a:t>Create a SharePoint Evidence Library with folders or metadata by review 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53A2E-647E-40A3-BD4A-172569AD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70"/>
          </a:solidFill>
          <a:ln xmlns:a="http://schemas.openxmlformats.org/drawingml/2006/main" w="0">
            <a:solidFill>
              <a:srgbClr val="1F7A7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679035-9C8A-4250-B7D7-62AB471A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38500"/>
            <a:ext cx="925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11F"/>
                </a:solidFill>
              </a:defRPr>
            </a:pPr>
            <a:r>
              <a:rPr sz="1350" b="0">
                <a:solidFill>
                  <a:srgbClr val="17211F"/>
                </a:solidFill>
              </a:rPr>
              <a:t>Build Power Apps screens for Dashboard, Reviews, New Intake, and Reports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CA486D-86DA-4096-B04E-75279E5F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43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70"/>
          </a:solidFill>
          <a:ln xmlns:a="http://schemas.openxmlformats.org/drawingml/2006/main" w="0">
            <a:solidFill>
              <a:srgbClr val="1F7A7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7A4EC-AFB8-421D-927C-22428F4F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86175"/>
            <a:ext cx="925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11F"/>
                </a:solidFill>
              </a:defRPr>
            </a:pPr>
            <a:r>
              <a:rPr sz="1350" b="0">
                <a:solidFill>
                  <a:srgbClr val="17211F"/>
                </a:solidFill>
              </a:rPr>
              <a:t>Add Power Automate flow from Teams channel messages into Dataverse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A91D1-DB52-469B-9A6D-45D09F4E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70"/>
          </a:solidFill>
          <a:ln xmlns:a="http://schemas.openxmlformats.org/drawingml/2006/main" w="0">
            <a:solidFill>
              <a:srgbClr val="1F7A7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E8313A-C3E6-4F33-9A6B-0447FB02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33850"/>
            <a:ext cx="925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11F"/>
                </a:solidFill>
              </a:defRPr>
            </a:pPr>
            <a:r>
              <a:rPr sz="1350" b="0">
                <a:solidFill>
                  <a:srgbClr val="17211F"/>
                </a:solidFill>
              </a:rPr>
              <a:t>Add duplicate detection on CVE, package, container/image, and version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B358B5-6E2C-4561-9D04-6B268152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38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70"/>
          </a:solidFill>
          <a:ln xmlns:a="http://schemas.openxmlformats.org/drawingml/2006/main" w="0">
            <a:solidFill>
              <a:srgbClr val="1F7A7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BDA86E-F913-4EC6-B190-1A6987F6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81525"/>
            <a:ext cx="9258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17211F"/>
                </a:solidFill>
              </a:defRPr>
            </a:pPr>
            <a:r>
              <a:rPr sz="1350" b="0">
                <a:solidFill>
                  <a:srgbClr val="17211F"/>
                </a:solidFill>
              </a:rPr>
              <a:t>Pilot with analysts, then tune statuses, reports, and security roles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A29BED-37A7-4A78-90CC-64AAAC17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14950"/>
            <a:ext cx="88392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F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D4F64F-AA1B-47E8-9BEE-C3518739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1495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70"/>
          </a:solidFill>
          <a:ln xmlns:a="http://schemas.openxmlformats.org/drawingml/2006/main" w="0">
            <a:solidFill>
              <a:srgbClr val="1F7A7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5DE0F4-80B5-4FE5-9F05-9EB2A67A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838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7211F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211F"/>
                </a:solidFill>
              </a:defRPr>
            </a:pPr>
            <a:r>
              <a:rPr sz="1575" b="1">
                <a:solidFill>
                  <a:srgbClr val="17211F"/>
                </a:solidFill>
              </a:rPr>
              <a:t>Approval needed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779506-4B7D-40CD-A1EF-B073A83B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8674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60716C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716C"/>
                </a:solidFill>
              </a:defRPr>
            </a:pPr>
            <a:r>
              <a:rPr sz="1275" b="0">
                <a:solidFill>
                  <a:srgbClr val="60716C"/>
                </a:solidFill>
              </a:rPr>
              <a:t>Confirm Dataverse as the record system, SharePoint as the evidence store, and Power Automate as the Teams intake path.</a:t>
            </a:r>
          </a:p>
        </p:txBody>
      </p:sp>
    </p:spTree>
    <p:extLst>
      <p:ext uri="{BB962C8B-B14F-4D97-AF65-F5344CB8AC3E}">
        <p14:creationId xmlns:p14="http://schemas.microsoft.com/office/powerpoint/2010/main" val="445667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2026-10-09T16:15:53.0530000Z</dcterms:created>
  <dcterms:modified xsi:type="dcterms:W3CDTF">2026-10-09T16:15:53.0530000Z</dcterms:modified>
</coreProperties>
</file>