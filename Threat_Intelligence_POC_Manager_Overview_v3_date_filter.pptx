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c86b9f6634006" /><Relationship Type="http://schemas.openxmlformats.org/officeDocument/2006/relationships/extended-properties" Target="/docProps/app.xml" Id="Rebe2049fd1d44e4f" /><Relationship Type="http://schemas.openxmlformats.org/officeDocument/2006/relationships/officeDocument" Target="/ppt/presentation.xml" Id="Ra650d0d4829f40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6fdb10e26e4627"/>
  </p:sldMasterIdLst>
  <p:notesMasterIdLst>
    <p:notesMasterId xmlns:r="http://schemas.openxmlformats.org/officeDocument/2006/relationships" r:id="Rb08952843e464596"/>
  </p:notesMasterIdLst>
  <p:sldIdLst>
    <p:sldId xmlns:r="http://schemas.openxmlformats.org/officeDocument/2006/relationships" id="256" r:id="R89237554f99048a4"/>
    <p:sldId xmlns:r="http://schemas.openxmlformats.org/officeDocument/2006/relationships" id="257" r:id="Rb46a64c79c804eb2"/>
    <p:sldId xmlns:r="http://schemas.openxmlformats.org/officeDocument/2006/relationships" id="258" r:id="Rc8d87870ec9640c3"/>
    <p:sldId xmlns:r="http://schemas.openxmlformats.org/officeDocument/2006/relationships" id="259" r:id="R67a92cef942e440b"/>
    <p:sldId xmlns:r="http://schemas.openxmlformats.org/officeDocument/2006/relationships" id="260" r:id="Rb2071e66ac3a43ae"/>
    <p:sldId xmlns:r="http://schemas.openxmlformats.org/officeDocument/2006/relationships" id="261" r:id="Rb8ef14c5e4e84cf0"/>
    <p:sldId xmlns:r="http://schemas.openxmlformats.org/officeDocument/2006/relationships" id="262" r:id="Ree183416f3284d05"/>
    <p:sldId xmlns:r="http://schemas.openxmlformats.org/officeDocument/2006/relationships" id="263" r:id="Rb2fbe3c976de4082"/>
    <p:sldId xmlns:r="http://schemas.openxmlformats.org/officeDocument/2006/relationships" id="264" r:id="Re15a5fb5412645c3"/>
    <p:sldId xmlns:r="http://schemas.openxmlformats.org/officeDocument/2006/relationships" id="265" r:id="R630d463a923a4785"/>
    <p:sldId xmlns:r="http://schemas.openxmlformats.org/officeDocument/2006/relationships" id="266" r:id="R7ddc6668fc5b4232"/>
    <p:sldId xmlns:r="http://schemas.openxmlformats.org/officeDocument/2006/relationships" id="267" r:id="Rf9651590ae9240db"/>
    <p:sldId xmlns:r="http://schemas.openxmlformats.org/officeDocument/2006/relationships" id="268" r:id="Rd17adb1b06ec4055"/>
    <p:sldId xmlns:r="http://schemas.openxmlformats.org/officeDocument/2006/relationships" id="269" r:id="R5e61699e29ff4709"/>
    <p:sldId xmlns:r="http://schemas.openxmlformats.org/officeDocument/2006/relationships" id="270" r:id="R7329f171c84d4f10"/>
    <p:sldId xmlns:r="http://schemas.openxmlformats.org/officeDocument/2006/relationships" id="271" r:id="R7f92713505054e01"/>
    <p:sldId xmlns:r="http://schemas.openxmlformats.org/officeDocument/2006/relationships" id="272" r:id="Ree92015720154339"/>
    <p:sldId xmlns:r="http://schemas.openxmlformats.org/officeDocument/2006/relationships" id="273" r:id="R0229ade67ee044e3"/>
    <p:sldId xmlns:r="http://schemas.openxmlformats.org/officeDocument/2006/relationships" id="274" r:id="R482e707a39fb4c27"/>
    <p:sldId xmlns:r="http://schemas.openxmlformats.org/officeDocument/2006/relationships" id="275" r:id="R14bf83feb6804a5b"/>
    <p:sldId xmlns:r="http://schemas.openxmlformats.org/officeDocument/2006/relationships" id="276" r:id="R7147651a2fc94d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0b90d028847b3" /><Relationship Type="http://schemas.openxmlformats.org/officeDocument/2006/relationships/slideMaster" Target="/ppt/slideMasters/slideMaster1.xml" Id="R736fdb10e26e4627" /><Relationship Type="http://schemas.openxmlformats.org/officeDocument/2006/relationships/notesMaster" Target="/ppt/notesMasters/notesMaster1.xml" Id="Rb08952843e464596" /><Relationship Type="http://schemas.openxmlformats.org/officeDocument/2006/relationships/presProps" Target="/ppt/presProps.xml" Id="R5722d4f69dd24824" /><Relationship Type="http://schemas.openxmlformats.org/officeDocument/2006/relationships/tableStyles" Target="/ppt/tableStyles.xml" Id="R9d11c50a01a8440c" /><Relationship Type="http://schemas.openxmlformats.org/officeDocument/2006/relationships/slide" Target="/ppt/slides/slide1.xml" Id="R89237554f99048a4" /><Relationship Type="http://schemas.openxmlformats.org/officeDocument/2006/relationships/slide" Target="/ppt/slides/slide2.xml" Id="Rb46a64c79c804eb2" /><Relationship Type="http://schemas.openxmlformats.org/officeDocument/2006/relationships/slide" Target="/ppt/slides/slide3.xml" Id="Rc8d87870ec9640c3" /><Relationship Type="http://schemas.openxmlformats.org/officeDocument/2006/relationships/slide" Target="/ppt/slides/slide4.xml" Id="R67a92cef942e440b" /><Relationship Type="http://schemas.openxmlformats.org/officeDocument/2006/relationships/slide" Target="/ppt/slides/slide5.xml" Id="Rb2071e66ac3a43ae" /><Relationship Type="http://schemas.openxmlformats.org/officeDocument/2006/relationships/slide" Target="/ppt/slides/slide6.xml" Id="Rb8ef14c5e4e84cf0" /><Relationship Type="http://schemas.openxmlformats.org/officeDocument/2006/relationships/slide" Target="/ppt/slides/slide7.xml" Id="Ree183416f3284d05" /><Relationship Type="http://schemas.openxmlformats.org/officeDocument/2006/relationships/slide" Target="/ppt/slides/slide8.xml" Id="Rb2fbe3c976de4082" /><Relationship Type="http://schemas.openxmlformats.org/officeDocument/2006/relationships/slide" Target="/ppt/slides/slide9.xml" Id="Re15a5fb5412645c3" /><Relationship Type="http://schemas.openxmlformats.org/officeDocument/2006/relationships/slide" Target="/ppt/slides/slide10.xml" Id="R630d463a923a4785" /><Relationship Type="http://schemas.openxmlformats.org/officeDocument/2006/relationships/slide" Target="/ppt/slides/slide11.xml" Id="R7ddc6668fc5b4232" /><Relationship Type="http://schemas.openxmlformats.org/officeDocument/2006/relationships/slide" Target="/ppt/slides/slide12.xml" Id="Rf9651590ae9240db" /><Relationship Type="http://schemas.openxmlformats.org/officeDocument/2006/relationships/slide" Target="/ppt/slides/slide13.xml" Id="Rd17adb1b06ec4055" /><Relationship Type="http://schemas.openxmlformats.org/officeDocument/2006/relationships/slide" Target="/ppt/slides/slide14.xml" Id="R5e61699e29ff4709" /><Relationship Type="http://schemas.openxmlformats.org/officeDocument/2006/relationships/slide" Target="/ppt/slides/slide15.xml" Id="R7329f171c84d4f10" /><Relationship Type="http://schemas.openxmlformats.org/officeDocument/2006/relationships/slide" Target="/ppt/slides/slide16.xml" Id="R7f92713505054e01" /><Relationship Type="http://schemas.openxmlformats.org/officeDocument/2006/relationships/slide" Target="/ppt/slides/slide17.xml" Id="Ree92015720154339" /><Relationship Type="http://schemas.openxmlformats.org/officeDocument/2006/relationships/slide" Target="/ppt/slides/slide18.xml" Id="R0229ade67ee044e3" /><Relationship Type="http://schemas.openxmlformats.org/officeDocument/2006/relationships/slide" Target="/ppt/slides/slide19.xml" Id="R482e707a39fb4c27" /><Relationship Type="http://schemas.openxmlformats.org/officeDocument/2006/relationships/slide" Target="/ppt/slides/slide20.xml" Id="R14bf83feb6804a5b" /><Relationship Type="http://schemas.openxmlformats.org/officeDocument/2006/relationships/slide" Target="/ppt/slides/slide21.xml" Id="R7147651a2fc9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e228999f848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39100c76cb43da" /><Relationship Type="http://schemas.openxmlformats.org/officeDocument/2006/relationships/notesMaster" Target="/ppt/notesMasters/notesMaster1.xml" Id="R3112465a786a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2d62177545481d" /><Relationship Type="http://schemas.openxmlformats.org/officeDocument/2006/relationships/notesMaster" Target="/ppt/notesMasters/notesMaster1.xml" Id="R66f54c8f515443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987b70c4cd4ec3" /><Relationship Type="http://schemas.openxmlformats.org/officeDocument/2006/relationships/notesMaster" Target="/ppt/notesMasters/notesMaster1.xml" Id="R00758f4fa49b42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7c9bca5854f95" /><Relationship Type="http://schemas.openxmlformats.org/officeDocument/2006/relationships/notesMaster" Target="/ppt/notesMasters/notesMaster1.xml" Id="R95db801326a5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295af06a8743b7" /><Relationship Type="http://schemas.openxmlformats.org/officeDocument/2006/relationships/notesMaster" Target="/ppt/notesMasters/notesMaster1.xml" Id="R2b67711e562543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74aaa5a2e145b3" /><Relationship Type="http://schemas.openxmlformats.org/officeDocument/2006/relationships/notesMaster" Target="/ppt/notesMasters/notesMaster1.xml" Id="Rd1ea8bbcd1ac44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838b1103844317" /><Relationship Type="http://schemas.openxmlformats.org/officeDocument/2006/relationships/notesMaster" Target="/ppt/notesMasters/notesMaster1.xml" Id="R18b3e66d6a6b4e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418a9a10c2415c" /><Relationship Type="http://schemas.openxmlformats.org/officeDocument/2006/relationships/notesMaster" Target="/ppt/notesMasters/notesMaster1.xml" Id="R2a36188dedfd40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7de19762524d42" /><Relationship Type="http://schemas.openxmlformats.org/officeDocument/2006/relationships/notesMaster" Target="/ppt/notesMasters/notesMaster1.xml" Id="Ra9ad0e2eb0f142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41575e83474765" /><Relationship Type="http://schemas.openxmlformats.org/officeDocument/2006/relationships/notesMaster" Target="/ppt/notesMasters/notesMaster1.xml" Id="R657a2a35a54c47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3783aff5474032" /><Relationship Type="http://schemas.openxmlformats.org/officeDocument/2006/relationships/notesMaster" Target="/ppt/notesMasters/notesMaster1.xml" Id="Rc32294d1e25448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64afe3e5c41fe" /><Relationship Type="http://schemas.openxmlformats.org/officeDocument/2006/relationships/notesMaster" Target="/ppt/notesMasters/notesMaster1.xml" Id="R510f5d16805646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f40f4eab1a4436" /><Relationship Type="http://schemas.openxmlformats.org/officeDocument/2006/relationships/notesMaster" Target="/ppt/notesMasters/notesMaster1.xml" Id="Rac0f41ace94440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bd111ce2234900" /><Relationship Type="http://schemas.openxmlformats.org/officeDocument/2006/relationships/notesMaster" Target="/ppt/notesMasters/notesMaster1.xml" Id="Re200c2cd553e47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22212c91f54441" /><Relationship Type="http://schemas.openxmlformats.org/officeDocument/2006/relationships/notesMaster" Target="/ppt/notesMasters/notesMaster1.xml" Id="R6e72fa55bb7d4b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28615b06ad4a77" /><Relationship Type="http://schemas.openxmlformats.org/officeDocument/2006/relationships/notesMaster" Target="/ppt/notesMasters/notesMaster1.xml" Id="R7a62f26afd604e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7583b4b121484b" /><Relationship Type="http://schemas.openxmlformats.org/officeDocument/2006/relationships/notesMaster" Target="/ppt/notesMasters/notesMaster1.xml" Id="R33d974a0c28747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92696fae284dee" /><Relationship Type="http://schemas.openxmlformats.org/officeDocument/2006/relationships/notesMaster" Target="/ppt/notesMasters/notesMaster1.xml" Id="R66b7face6e1145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3afab4ce8e4f86" /><Relationship Type="http://schemas.openxmlformats.org/officeDocument/2006/relationships/notesMaster" Target="/ppt/notesMasters/notesMaster1.xml" Id="R4fb2c71b142840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d92f7c86d04e44" /><Relationship Type="http://schemas.openxmlformats.org/officeDocument/2006/relationships/notesMaster" Target="/ppt/notesMasters/notesMaster1.xml" Id="Rafdb1002d2bc46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1b6693dfc34d7a" /><Relationship Type="http://schemas.openxmlformats.org/officeDocument/2006/relationships/notesMaster" Target="/ppt/notesMasters/notesMaster1.xml" Id="R5ebbb9c43465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proof of concept preserves threat intelligence knowledge that currently lives in Slack.</a:t>
            </a:r>
          </a:p>
          <a:p xmlns:a="http://schemas.openxmlformats.org/drawingml/2006/main">
            <a:r>
              <a:t>The goal is to stop support teams from repeating the same document analysis when shifts change or a PDF appears again.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problem is repeated effort, not simply missing files.</a:t>
            </a:r>
          </a:p>
          <a:p xmlns:a="http://schemas.openxmlformats.org/drawingml/2006/main">
            <a:r>
              <a:t>Slack supports fast collaboration, but knowledge becomes difficult to search and reuse after on-call ownership changes.</a:t>
            </a:r>
          </a:p>
          <a:p xmlns:a="http://schemas.openxmlformats.org/drawingml/2006/main">
            <a:r>
              <a:t>The POC turns each Slack entry into durable operational memory.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works even before full automation. It preserves the support team's own notes from Slack.</a:t>
            </a:r>
          </a:p>
          <a:p xmlns:a="http://schemas.openxmlformats.org/drawingml/2006/main">
            <a:r>
              <a:t>Phase 2 adds automated PDF extraction and review findings.</a:t>
            </a:r>
          </a:p>
          <a:p xmlns:a="http://schemas.openxmlformats.org/drawingml/2006/main">
            <a:r>
              <a:t>Both phases write to the same repository model so SharePoint can replace local storage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Slack remains the working channel for the support team.</a:t>
            </a:r>
          </a:p>
          <a:p xmlns:a="http://schemas.openxmlformats.org/drawingml/2006/main">
            <a:r>
              <a:t>Python handles repeatable processing inside Docker, so the host machine does not need a Python setup.</a:t>
            </a:r>
          </a:p>
          <a:p xmlns:a="http://schemas.openxmlformats.org/drawingml/2006/main">
            <a:r>
              <a:t>The repository boundary keeps the local POC aligned with the future SharePoint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team does not need to re-enter every finding in the web page.</a:t>
            </a:r>
          </a:p>
          <a:p xmlns:a="http://schemas.openxmlformats.org/drawingml/2006/main">
            <a:r>
              <a:t>The normal source is the structured Slack message and its PDF attachment.</a:t>
            </a:r>
          </a:p>
          <a:p xmlns:a="http://schemas.openxmlformats.org/drawingml/2006/main">
            <a:r>
              <a:t>The analyst name comes from the Slack sender. The manual form remains available for backfill or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separates documents from findings. Four PDFs can contain ten CVEs, so the review count can be higher than the document count.</a:t>
            </a:r>
          </a:p>
          <a:p xmlns:a="http://schemas.openxmlformats.org/drawingml/2006/main">
            <a:r>
              <a:t>This screen helps the on-call lead understand the queue before opening individual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 represents the first phase of the use case.</a:t>
            </a:r>
          </a:p>
          <a:p xmlns:a="http://schemas.openxmlformats.org/drawingml/2006/main">
            <a:r>
              <a:t>The memory register is populated from Slack. Analysts can search prior work and add review comments or decisions.</a:t>
            </a:r>
          </a:p>
          <a:p xmlns:a="http://schemas.openxmlformats.org/drawingml/2006/main">
            <a:r>
              <a:t>The manual area is secondary and supports backfill, not the normal intake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Documents screen answers whether a PDF has already been processed and what the analysis produced.</a:t>
            </a:r>
          </a:p>
          <a:p xmlns:a="http://schemas.openxmlformats.org/drawingml/2006/main">
            <a:r>
              <a:t>Selecting a document reveals its detailed findings, indicators, similar content, and analyst comments.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finding is not another document. It is one CVE or security issue extracted from a document.</a:t>
            </a:r>
          </a:p>
          <a:p xmlns:a="http://schemas.openxmlformats.org/drawingml/2006/main">
            <a:r>
              <a:t>This level allows analysts to review, comment on, and close each security issue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control for preventing repeated analysis.</a:t>
            </a:r>
          </a:p>
          <a:p xmlns:a="http://schemas.openxmlformats.org/drawingml/2006/main">
            <a:r>
              <a:t>The current POC detected one repeat of the Hive ransomware PDF.</a:t>
            </a:r>
          </a:p>
          <a:p xmlns:a="http://schemas.openxmlformats.org/drawingml/2006/main">
            <a:r>
              <a:t>Rerunning the pipeline does not inflate the duplicate count because each duplicate event has a stable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numbers come from the current local repository and dashboard.</a:t>
            </a:r>
          </a:p>
          <a:p xmlns:a="http://schemas.openxmlformats.org/drawingml/2006/main">
            <a:r>
              <a:t>The POC has processed four PDFs and created ten CVE findings, eleven on-call records, and one re-seen event.</a:t>
            </a:r>
          </a:p>
          <a:p xmlns:a="http://schemas.openxmlformats.org/drawingml/2006/main">
            <a:r>
              <a:t>The latest Docker test run completed with fifty tests passing.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web app is a proof of the workflow, not a replacement for the organization's Power Apps environment.</a:t>
            </a:r>
          </a:p>
          <a:p xmlns:a="http://schemas.openxmlformats.org/drawingml/2006/main">
            <a:r>
              <a:t>Once Microsoft licensing and a work or school account are available, SharePoint becomes the structured memory and Power Apps becomes the analyst interface.</a:t>
            </a:r>
          </a:p>
          <a:p xmlns:a="http://schemas.openxmlformats.org/drawingml/2006/main">
            <a:r>
              <a:t>The proposed next step is a short support-team pilot followed by confirmation of the SharePoint list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turns the architecture into a concrete demo story. Use it after the architecture slides to show how the idea works for one real support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track: The use case starts with the support process the team already uses. The change is that the knowledge becomes searchable and reusable.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document selector and the memory register. Point out that the analyst records knowledge at the document level, while CVEs remain visible inside the detail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track: The date filter is meant for manager reporting and analyst handoff. It gives a simple view by day or month.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the document-level record. In production, the PDF URL would point to SharePoint instead of the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Tech Evidence tab. This helps answer the manager question: why did the automation connect this CVE to this technology?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manager value: the system remembers prior work even when the new file has a different 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clear that this is a prototype. The manager should understand that the local build demonstrates the workflow before SharePoint credentials and licensing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final slide gives the presenter a simple path through the story. It avoids technical setup and focuses on the operational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e5c7b0ed249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5ef587ecb455f" /><Relationship Type="http://schemas.openxmlformats.org/officeDocument/2006/relationships/slideLayout" Target="/ppt/slideLayouts/slideLayout1.xml" Id="R42f46cc0cf9948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46cc0cf9948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23652151a403e" /><Relationship Type="http://schemas.openxmlformats.org/officeDocument/2006/relationships/image" Target="/ppt/media/image.jpeg" Id="Rbf8ff15ae2fd429c" /><Relationship Type="http://schemas.openxmlformats.org/officeDocument/2006/relationships/notesSlide" Target="/ppt/notesSlides/notesSlide1.xml" Id="R41b1fd82e45f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2ce43f9974f21" /><Relationship Type="http://schemas.openxmlformats.org/officeDocument/2006/relationships/notesSlide" Target="/ppt/notesSlides/notesSlide2.xml" Id="R602c6b38471740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60b750da3408e" /><Relationship Type="http://schemas.openxmlformats.org/officeDocument/2006/relationships/notesSlide" Target="/ppt/notesSlides/notesSlide3.xml" Id="R78b002f1fda747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ded8d4c4a412f" /><Relationship Type="http://schemas.openxmlformats.org/officeDocument/2006/relationships/notesSlide" Target="/ppt/notesSlides/notesSlide4.xml" Id="Rf0b1cbc0131b4b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d3a753411452b" /><Relationship Type="http://schemas.openxmlformats.org/officeDocument/2006/relationships/notesSlide" Target="/ppt/notesSlides/notesSlide5.xml" Id="R18a4c05cc43543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7a208c7994262" /><Relationship Type="http://schemas.openxmlformats.org/officeDocument/2006/relationships/image" Target="/ppt/media/image2.jpeg" Id="R5ae1af64e0ba4e42" /><Relationship Type="http://schemas.openxmlformats.org/officeDocument/2006/relationships/notesSlide" Target="/ppt/notesSlides/notesSlide6.xml" Id="R710b5e71cceb41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92a9d829f46a4" /><Relationship Type="http://schemas.openxmlformats.org/officeDocument/2006/relationships/image" Target="/ppt/media/image3.jpeg" Id="Rbe1f81daa5af41ce" /><Relationship Type="http://schemas.openxmlformats.org/officeDocument/2006/relationships/notesSlide" Target="/ppt/notesSlides/notesSlide7.xml" Id="Rfb5e5279afb646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95b040de8404c" /><Relationship Type="http://schemas.openxmlformats.org/officeDocument/2006/relationships/image" Target="/ppt/media/image4.jpeg" Id="Rc67b775bf1af49a3" /><Relationship Type="http://schemas.openxmlformats.org/officeDocument/2006/relationships/notesSlide" Target="/ppt/notesSlides/notesSlide8.xml" Id="R9887471575574b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7135d6e84d24" /><Relationship Type="http://schemas.openxmlformats.org/officeDocument/2006/relationships/image" Target="/ppt/media/image5.jpeg" Id="Ra02ee624e24c4366" /><Relationship Type="http://schemas.openxmlformats.org/officeDocument/2006/relationships/notesSlide" Target="/ppt/notesSlides/notesSlide9.xml" Id="R04d87a4b7b0c4b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24ae8408e42fa" /><Relationship Type="http://schemas.openxmlformats.org/officeDocument/2006/relationships/notesSlide" Target="/ppt/notesSlides/notesSlide10.xml" Id="R6f3b160f7f0f43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3536644ad4245" /><Relationship Type="http://schemas.openxmlformats.org/officeDocument/2006/relationships/notesSlide" Target="/ppt/notesSlides/notesSlide11.xml" Id="R3f3004648b814d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f72e40bc14c07" /><Relationship Type="http://schemas.openxmlformats.org/officeDocument/2006/relationships/notesSlide" Target="/ppt/notesSlides/notesSlide12.xml" Id="R40ce2f644e8c4b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6fb86a8354768" /><Relationship Type="http://schemas.openxmlformats.org/officeDocument/2006/relationships/image" Target="/ppt/media/image.png" Id="Re268019f05894011" /><Relationship Type="http://schemas.openxmlformats.org/officeDocument/2006/relationships/notesSlide" Target="/ppt/notesSlides/notesSlide13.xml" Id="R3eb0a928d2d942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ff478b64f4730" /><Relationship Type="http://schemas.openxmlformats.org/officeDocument/2006/relationships/notesSlide" Target="/ppt/notesSlides/notesSlide14.xml" Id="R1c7c2759280348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510e9c6a042d8" /><Relationship Type="http://schemas.openxmlformats.org/officeDocument/2006/relationships/image" Target="/ppt/media/image2.png" Id="Rdcb1184a63d647f3" /><Relationship Type="http://schemas.openxmlformats.org/officeDocument/2006/relationships/notesSlide" Target="/ppt/notesSlides/notesSlide15.xml" Id="R903e04525ee744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570482ddc4df7" /><Relationship Type="http://schemas.openxmlformats.org/officeDocument/2006/relationships/image" Target="/ppt/media/image3.png" Id="R58fd7b7cd77e4390" /><Relationship Type="http://schemas.openxmlformats.org/officeDocument/2006/relationships/image" Target="/ppt/media/image4.png" Id="R90041ba587c74d48" /><Relationship Type="http://schemas.openxmlformats.org/officeDocument/2006/relationships/notesSlide" Target="/ppt/notesSlides/notesSlide16.xml" Id="R55cb58fda59046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ccc64d25d40e9" /><Relationship Type="http://schemas.openxmlformats.org/officeDocument/2006/relationships/image" Target="/ppt/media/image5.png" Id="R64d56d59e4c04c0a" /><Relationship Type="http://schemas.openxmlformats.org/officeDocument/2006/relationships/notesSlide" Target="/ppt/notesSlides/notesSlide17.xml" Id="R69cffccd6d5147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add2f6d834bc4" /><Relationship Type="http://schemas.openxmlformats.org/officeDocument/2006/relationships/image" Target="/ppt/media/image6.png" Id="Reb87deb7f9d548b2" /><Relationship Type="http://schemas.openxmlformats.org/officeDocument/2006/relationships/notesSlide" Target="/ppt/notesSlides/notesSlide18.xml" Id="Ra77cfef233734d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be170b09a42b0" /><Relationship Type="http://schemas.openxmlformats.org/officeDocument/2006/relationships/notesSlide" Target="/ppt/notesSlides/notesSlide19.xml" Id="R2b2eab1786f44e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398c868e54993" /><Relationship Type="http://schemas.openxmlformats.org/officeDocument/2006/relationships/notesSlide" Target="/ppt/notesSlides/notesSlide20.xml" Id="R7a57cb9ee67d49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32b6650304bc6" /><Relationship Type="http://schemas.openxmlformats.org/officeDocument/2006/relationships/notesSlide" Target="/ppt/notesSlides/notesSlide21.xml" Id="R22ba4eb8c22148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512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CF67-5435-4357-9E74-C997E4CF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1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62067-6EEB-4942-9BBC-DADB12BE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506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ff15ae2fd429c"/>
          <a:srcRect xmlns:a="http://schemas.openxmlformats.org/drawingml/2006/main" l="23641" t="0" r="236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723900"/>
            <a:ext cx="5067300" cy="5410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F006E-A6FD-4652-A834-AC23E9D8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71E74-40F8-452B-9070-4BFB216B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657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Intelligence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On-Call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0D11B-37FE-4A0C-9DD8-AF9B6A84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5391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5EAF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EAF4"/>
                </a:solidFill>
                <a:latin typeface="Arial"/>
                <a:ea typeface="Arial"/>
                <a:cs typeface="Arial"/>
              </a:rPr>
              <a:t>Slack PDF intake, analyst knowledge retention, and Power Apps-ready review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936C9-A69E-482A-B786-F237D2FF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E0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E0D8"/>
                </a:solidFill>
                <a:latin typeface="Arial"/>
                <a:ea typeface="Arial"/>
                <a:cs typeface="Arial"/>
              </a:rPr>
              <a:t>Proof of concept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98C17-DB8C-4D32-B858-7717823A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8D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CC8DC"/>
                </a:solidFill>
                <a:latin typeface="Arial"/>
                <a:ea typeface="Arial"/>
                <a:cs typeface="Arial"/>
              </a:rPr>
              <a:t>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72840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74DDF-EABD-424E-B3E1-1674B755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The operational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C7DEA-B443-421B-A679-41FCBEEF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5665B-FD26-449F-9034-E68FABC8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Useful analysis exists, but Slack alone does not provide durable team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4CF91-5945-4E7E-A29B-F9DCF82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33625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2563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84EE9-AC8C-4A74-9ABE-083002D8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6DB31-AF07-4BDC-B07A-27E68790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1. Findings posted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C7762-8C68-4E4F-82C1-DEE7473A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19335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An on-call analyst shares a PDF and writes structured notes in Slack.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B247C-E2E1-48A8-BA36-1FD8DECB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33625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1E62B-DDF5-4EFC-BB80-D8CE669A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658B8-938B-4D6A-BB6C-5B1353AD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812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2. Shift changes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32114-252C-4A3A-B9C7-517C3674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52675"/>
            <a:ext cx="19335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next analyst may not know what the previous team already reviewed.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8260B-D105-4865-BAE1-94BA64ED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333625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14288">
            <a:solidFill>
              <a:srgbClr val="C84D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ED6A2-3243-46FD-BC6A-81C55CF1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9C9F0-062B-482C-9DC0-4A9E68A2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3. PDF returns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46F16-E7D5-4C2D-BC56-456DE18B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19335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same document can be shared again days or weeks later.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88769-1666-43CF-A6C5-A52D6E1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ECF4"/>
          </a:solidFill>
          <a:ln xmlns:a="http://schemas.openxmlformats.org/drawingml/2006/main" w="14288">
            <a:solidFill>
              <a:srgbClr val="6A2A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03024-B4F4-4B0D-A3BC-311CA878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2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A7FA3-AB0F-4D9D-BD3B-A23EE8A6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81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4. Work repeats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ED3D2-B285-4F19-A0F8-AEFA1889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52675"/>
            <a:ext cx="2457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team analyzes the same material again and again because prior decisions are hard to find.</a:t>
            </a:r>
          </a:p>
        </p:txBody>
      </p: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26384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26384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34375" y="26384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FB9DF-0A2A-4212-9656-146A0875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8585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F2A93-FFF1-4AA6-AED4-AC58D8F5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Business need: </a:t>
            </a:r>
            <a:r>
              <a:rPr sz="18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retain the document, CVEs, affected technology, analyst comments, decisions, and first/last seen history so every on-call shift can continue from the same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29FEB-27B1-46B8-B3E6-7D3AD23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C4825-B8B6-4F4F-B642-131B9F63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178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74C8A-EEA7-4C58-B3D8-7E587CC2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Two-phase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8B93B-31A3-44FF-84EC-FB43DED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7EC9B-D3FE-4E43-9A59-F8963E2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Phase 1 preserves analyst knowledge; Phase 2 automates PDF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21FD2-6FA1-4AAA-A37C-E705B104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33628-6A66-44F3-94FB-24514FA0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Slack knowledge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73524-93D9-41B7-801D-BFD35718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629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Read the team's standard Slack note format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 the Slack sender as the analyst identity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Store CVEs, technology, status, decision, comments, and seen history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Detect when a previously captured PDF appears again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83311-9E17-4964-9D06-B9C24CCB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525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E3081-9F86-4C0F-AE43-9E8ADE7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47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8ED33-7573-40D0-BCAD-8936241A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Automated PDF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752D7-A0D5-45C3-B00D-8AD705AB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4629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Download PDFs shared in the Slack channel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Extract CVEs, evidence text, technology, and security indicators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Classify relevance and create one review finding per CVE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Reuse local semantic memory to recognize prior or similar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6C1C5-F75B-4D2F-86C3-4A910B2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344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1145A-4B0B-4B36-8446-902A5E62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992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Shared outcome: one searchable record of what arrived, what the system found, and what analysts decided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7B529-A57B-4B6B-9C49-7DDC6ECD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EB311-EE88-43FD-AB91-8BCEC5B6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0376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3D8FD-645D-425F-A05F-1177067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End-to-end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75E93-566F-47E4-B00F-7CD6F18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7F2B5-472A-4F49-A2BD-51672B1D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Dockerized Python service connects intake, analysis, memory, and analyst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9FFC5-133C-433C-A1DE-DD7256D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7716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ECF4"/>
          </a:solidFill>
          <a:ln xmlns:a="http://schemas.openxmlformats.org/drawingml/2006/main" w="14288">
            <a:solidFill>
              <a:srgbClr val="6A2A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AADC4-3B5E-465D-A303-87564759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7620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2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0D9BB-123C-43E9-9DAA-9E7288E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Slack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4482D-7BFB-4926-9A2B-5E3D473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Structured analyst notes and PDF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A410B-1256-4981-A386-852E2915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00250"/>
            <a:ext cx="2000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2563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32219-6E04-450A-B893-5EE16911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00250"/>
            <a:ext cx="7620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06AAD-67A1-4624-A6E7-93DEA89F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Python in 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8544A-46F3-4C04-B949-7B65E01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43175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Channel discovery, parsing, download, and orchestration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BDF4C-5E20-4FC8-BD87-7D199202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2095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007C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55C26-278B-4F93-8D2A-03CCF4C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7620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08008-7C62-4886-8B83-7FAAA232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PDF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A84B6-FD58-4813-8BFD-414C921B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43175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CVEs, evidence, technologies, indicators, and relevance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286B9-3BC4-495C-A1A9-85288E25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2095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7977A-ED88-48B2-81DF-81FCE918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620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E6AA8-D5BE-4A2C-8D84-D2135A9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Structured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249BE-4C46-46C5-BA95-3038937F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43175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Local JSON, SQLite, and Excel today; SharePoint later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1C2CC-0CFD-4E1C-BE40-8E5B09B6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1790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14288">
            <a:solidFill>
              <a:srgbClr val="C84D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0A1DB-8C14-4B8A-8893-13E0D65D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76200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6F27D-C55C-43E0-A85B-97AD9926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717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Analyst 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34832-2037-4811-B1C1-40DE454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4317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Dashboard, documents, findings, comments, and decisions</a:t>
            </a:r>
          </a:p>
        </p:txBody>
      </p:sp>
      <p:cxnSp>
        <p:nvCxnSpPr>
          <p:cNvPr id="83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62200" y="2676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86300" y="2676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05650" y="2676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525000" y="2676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EBE64-F787-4B9B-B080-A5DAC0A6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19550"/>
            <a:ext cx="68389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A0DEF5-31E8-412D-8E71-8C1FB6B6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29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512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1247"/>
                </a:solidFill>
                <a:latin typeface="Arial"/>
                <a:ea typeface="Arial"/>
                <a:cs typeface="Arial"/>
              </a:rPr>
              <a:t>Repository abstraction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AA4202-E5CC-485E-AF2D-4E141FD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910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analysis code writes the same document, finding, indicator, memory, and feedback payloads regardless of whether the backend is local storage or SharePoint.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FE7D8-245F-46BF-A464-60E2F7D8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271E92-33FD-4C0E-833F-6B09E5DF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3235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6EEC8-B7BF-42F2-AACA-48DFB99A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Slack becomes the intake channel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EB9DC-0452-485A-A828-7B42D43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1C04C-D11A-4BD3-B1BF-6ABB693F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team keeps its current workflow and uses a predictable note format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BC139-C63C-4D00-A5BF-793E3D4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EXAMPLE SLACK 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981B6-CE2E-4432-9DB7-B17E8452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372100" cy="3314700"/>
          </a:xfrm>
          <a:prstGeom xmlns:a="http://schemas.openxmlformats.org/drawingml/2006/main" prst="roundRect">
            <a:avLst>
              <a:gd name="adj" fmla="val 2874"/>
            </a:avLst>
          </a:prstGeom>
          <a:solidFill xmlns:a="http://schemas.openxmlformats.org/drawingml/2006/main">
            <a:srgbClr val="2413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83B2A-91CD-4A2B-939A-061EAFE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4762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7ED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EDF7"/>
                </a:solidFill>
                <a:latin typeface="Arial"/>
                <a:ea typeface="Arial"/>
                <a:cs typeface="Arial"/>
              </a:rPr>
              <a:t>Today findings: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7ED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EDF7"/>
                </a:solidFill>
                <a:latin typeface="Arial"/>
                <a:ea typeface="Arial"/>
                <a:cs typeface="Arial"/>
              </a:rPr>
              <a:t>Document: aa22-321a_joint_csa_stopransomware_hive.pdf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7ED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EDF7"/>
                </a:solidFill>
                <a:latin typeface="Arial"/>
                <a:ea typeface="Arial"/>
                <a:cs typeface="Arial"/>
              </a:rPr>
              <a:t>Threat: Hive Ransomware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7ED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EDF7"/>
                </a:solidFill>
                <a:latin typeface="Arial"/>
                <a:ea typeface="Arial"/>
                <a:cs typeface="Arial"/>
              </a:rPr>
              <a:t>Impacted Technology: FortiOS, Microsoft Exchange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7ED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EDF7"/>
                </a:solidFill>
                <a:latin typeface="Arial"/>
                <a:ea typeface="Arial"/>
                <a:cs typeface="Arial"/>
              </a:rPr>
              <a:t>CVE Count: 5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7ED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EDF7"/>
                </a:solidFill>
                <a:latin typeface="Arial"/>
                <a:ea typeface="Arial"/>
                <a:cs typeface="Arial"/>
              </a:rPr>
              <a:t>CVE: CVE-2020-12812; CVE-2021-31207;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7ED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EDF7"/>
                </a:solidFill>
                <a:latin typeface="Arial"/>
                <a:ea typeface="Arial"/>
                <a:cs typeface="Arial"/>
              </a:rPr>
              <a:t>CVE-2021-34473; CVE-2021-34523; CVE-2021-42321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64587-EBE9-454A-87A2-E97C3320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WHAT THE PIPELINE STORES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BBA70-09A1-4F41-933C-8818549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95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2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BA94B-91C0-47D1-9E35-FA566E1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Document and threat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1F931-37C9-4191-94F1-9E64472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One reusable record for the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9032B-39BC-4E6D-8FAD-BFF38813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90800"/>
            <a:ext cx="95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7E361-E5CD-4DD5-A609-863E2696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95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CVE and technology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D1479-2374-4148-9BFE-C762BD6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One on-call memory record per CVE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DACD6-13E2-4FBC-A03F-0839D18A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95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2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9D203-68EF-4747-9818-413211D3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Analyst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31114-252B-4963-9573-FB18D73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24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Slack sender details identify who added the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6CBDA-38E1-40CD-ABF5-F1E58F59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95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EB487-162C-4F3B-9C98-1F75CA9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Message 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2E875-BEF6-4CF6-91E3-CB1920D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Prevents the same Slack message from creating duplicate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84C5B-9BA0-4034-82E3-57D754A5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95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2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37DFD-E7CB-4341-A38A-B9B919C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Seen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CF2A6-5690-478F-94E3-10888E53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First seen, last seen, times seen, and re-seen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6A555-E4F0-4B63-90FE-739FE743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87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ECE92-6C61-476E-BBB7-00606BF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1030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A53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A5313"/>
                </a:solidFill>
                <a:latin typeface="Arial"/>
                <a:ea typeface="Arial"/>
                <a:cs typeface="Arial"/>
              </a:rPr>
              <a:t>Normal intake starts in Slack. The web form supports manual backfill or correction when needed.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E9CAB-7F9D-4CEA-9367-E931FE7F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F12C2-C6E4-4091-857C-15F6055B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8451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03199-3394-4251-A7FE-CF4DBEF4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1F01F-38D9-4416-B23C-29C46185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915F2-92EF-4195-8719-601E9B6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A quick view of workload, urgency, and recent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95F9E-909D-44FA-B449-7676958A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9057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1af64e0ba4e42"/>
          <a:stretch xmlns:a="http://schemas.openxmlformats.org/drawingml/2006/main"/>
        </p:blipFill>
        <p:spPr>
          <a:xfrm xmlns:a="http://schemas.openxmlformats.org/drawingml/2006/main">
            <a:off x="594001" y="1390650"/>
            <a:ext cx="7784547" cy="4381500"/>
          </a:xfrm>
          <a:prstGeom xmlns:a="http://schemas.openxmlformats.org/drawingml/2006/main" prst="roundRect">
            <a:avLst>
              <a:gd name="adj" fmla="val 15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B14C5-C6E9-4A20-B75D-CE2CD4A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22A89-8567-4273-9D74-DF2F3542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7241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Documents shows the number of processed PDFs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Review Required counts CVE findings, not documents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High Attention highlights urgent evidence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Re-Seen Items exposes repeated Slack PDFs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Recent documents and open findings support fast 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C4C6E-57AC-4A8F-A1D6-321508E7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400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79EC7-6E6A-41F2-BF09-C07AE6F0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578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Current POC: 4 documents and 10 CVE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A404D-28D7-47A6-9CF4-344EE64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62FC9-1927-4088-9D01-56097300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8483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45603-72FE-460D-9A49-51017F6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Phase 1: Slack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F2A1A-1E54-4ECB-B9FB-FCBEEE4E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2C47F-4256-49BD-B2E0-71522925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Analyst notes remain searchable across on-call shifts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75B99-D3B1-48D1-BA64-E0135E77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9057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f81daa5af41ce"/>
          <a:stretch xmlns:a="http://schemas.openxmlformats.org/drawingml/2006/main"/>
        </p:blipFill>
        <p:spPr>
          <a:xfrm xmlns:a="http://schemas.openxmlformats.org/drawingml/2006/main">
            <a:off x="594001" y="1390650"/>
            <a:ext cx="7784547" cy="4381500"/>
          </a:xfrm>
          <a:prstGeom xmlns:a="http://schemas.openxmlformats.org/drawingml/2006/main" prst="roundRect">
            <a:avLst>
              <a:gd name="adj" fmla="val 15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1D46D-9B86-4EBC-AD2D-A4C216CB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9F62A-2A26-49CD-A02A-57382F29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72415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by document, CVE, threat, or technology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See analyst identity captured from Slack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Track status, decision, comments, and note history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Show first seen, last seen, and times seen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Manual backfill supports missing historical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6CE46-3888-4E66-B0F7-2DE0884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76850"/>
            <a:ext cx="2724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F4A04-7AB0-43A2-A2FB-DC90096F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00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512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1247"/>
                </a:solidFill>
                <a:latin typeface="Arial"/>
                <a:ea typeface="Arial"/>
                <a:cs typeface="Arial"/>
              </a:rPr>
              <a:t>Outcome: the next shift can continue from the previous analyst's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5222C-C862-48F6-B344-7594E32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41EE5-609A-48A0-AFF5-561AB4C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9655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5E62B-E8AC-45AE-A96E-90BCCDC2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9B33A-8350-4C4A-AE47-E6D9B9BB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CF79-72BF-4DB5-9FFC-796FDDEA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One place to inspect every PDF and its analysis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1EB9A-8864-438F-9DF7-EB6969AA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9057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b775bf1af49a3"/>
          <a:stretch xmlns:a="http://schemas.openxmlformats.org/drawingml/2006/main"/>
        </p:blipFill>
        <p:spPr>
          <a:xfrm xmlns:a="http://schemas.openxmlformats.org/drawingml/2006/main">
            <a:off x="594001" y="1390650"/>
            <a:ext cx="7784547" cy="4381500"/>
          </a:xfrm>
          <a:prstGeom xmlns:a="http://schemas.openxmlformats.org/drawingml/2006/main" prst="roundRect">
            <a:avLst>
              <a:gd name="adj" fmla="val 15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E4CDC-8AB9-4319-9501-9C3E5CBB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7DBB3-DE1B-46FC-847D-CC0B243D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7241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by document name or threat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Filter by relevance and workflow status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Compare CVE count and high-attention count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Open the original PDF from the selected record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Review findings, indicators, similar content, and comments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4F392-71F1-4FFC-9225-8B004089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400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9784C-BFAB-4EAC-9A77-13F5F00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578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A document can produce several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95E3D-3FC0-4803-9B24-69A11C2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B86D2-AB54-4772-8CCE-A4092C9E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4036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EEFA0-E9ED-4544-9B96-196462B3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9BBC7-7DAC-41CB-8B03-DF5BBD24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B6F70-C27E-46CB-B7DA-4C7B899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Each CVE becomes a focused review item with supporting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A384A-66CA-4016-91C9-0EB313C5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9057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ee624e24c4366"/>
          <a:stretch xmlns:a="http://schemas.openxmlformats.org/drawingml/2006/main"/>
        </p:blipFill>
        <p:spPr>
          <a:xfrm xmlns:a="http://schemas.openxmlformats.org/drawingml/2006/main">
            <a:off x="594001" y="1390650"/>
            <a:ext cx="7784547" cy="4381500"/>
          </a:xfrm>
          <a:prstGeom xmlns:a="http://schemas.openxmlformats.org/drawingml/2006/main" prst="roundRect">
            <a:avLst>
              <a:gd name="adj" fmla="val 15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CA52B-F7B9-48B8-82C2-AA940B36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84D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4D5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8BF3C-A7A4-4D9A-8A2B-EB7CBF5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7241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One finding per document and CVE combination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Show technology, vendor, category, and relevance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Retain evidence text and PDF page reference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Assign status and analyst decision</a:t>
            </a:r>
          </a:p>
          <a:p xmlns:a="http://schemas.openxmlformats.org/drawingml/2006/main">
            <a:pPr marL="203200" indent="-101600" algn="l">
              <a:spcAft>
                <a:spcPts val="1000"/>
              </a:spcAft>
              <a:buChar char="•"/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Add comments without losing earlier review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DBB51-6FD6-474D-8BE1-C8B7A46D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400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E3623-D5E2-482C-A878-6ADA4596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102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C84D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D5A"/>
                </a:solidFill>
                <a:latin typeface="Arial"/>
                <a:ea typeface="Arial"/>
                <a:cs typeface="Arial"/>
              </a:rPr>
              <a:t>Finding means a CVE or security issue that needs analyst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4000D-926B-4636-AA0B-526BCBB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8D940-55F0-4792-BBD4-3727AF77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2063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CD02E-BA5E-48BC-A791-66D592C4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Re-seen document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989A5-671C-402E-B37E-A2663017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E2634-DCE3-4C7A-94B0-90CB269B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A repeated PDF resurfaces prior analysis instead of creating repeated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13E55-C5D4-4A8A-BE5B-EA6D03E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190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2563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9DB9F-415F-44B4-B417-789202A2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17AF5-9EDC-4D32-8989-F3FF0E3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First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B8CDB-4B9E-413E-BAEC-ED0A5212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Slack message and PDF enter the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266FD-65B2-4DE3-90D3-9362F39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2190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007C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4A769-E91E-4AD3-8F60-3AF63C56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762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1D12B-C09F-4B0F-9383-B53517BB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Memory stored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EB3DB-64A4-4DB6-8388-62704D1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8875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Document, findings, notes, and first-seen time are saved.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24AF7-AF2E-471D-8CCA-9A4D4E7D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2190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5DDBF-3F10-4343-A844-56D4DC42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762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BC652-3F2E-45CE-BC21-81CC2F89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PDF shared again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03AFE-DE8A-46EA-ACDA-C03ED853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pipeline matches the same Slack file ID or PDF filename.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628FA-BE33-410C-9B74-B39C6B4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14288">
            <a:solidFill>
              <a:srgbClr val="C84D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5B6D3-C409-423A-9ED2-F3613809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762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B4AF4-9521-4C33-8C30-0CA3E6B6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History shown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34394-6505-48FB-B693-B23DDA86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28875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A re-seen event records the repeat and points analysts to prior work.</a:t>
            </a:r>
          </a:p>
        </p:txBody>
      </p:sp>
      <p:cxnSp>
        <p:nvCxnSpPr>
          <p:cNvPr id="6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76550" y="2590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505450" y="2590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34350" y="2590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5A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E81AF-34E7-4C05-AFDE-B8E22F2C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3945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89E19-85DB-402A-AE5F-41D4AA9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CURRENT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72A3F-5419-4629-994E-0E6463E6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1 re-seen event</a:t>
            </a: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 is stored for the Hive ransomware PDF. The second Slack share matched the original file identity, while the existing document and findings remained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7B5D4-9F5E-46D2-9883-1658C797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41628-4096-4CC4-9D45-BFFBD019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1650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3D271-6A35-4380-B174-0E6A395A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What the POC proves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ABDFC-4E69-4196-8DC2-8BD94E55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BB6A2-58C5-4D74-8EBB-9CCB56AC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workflow runs locally with real Slack messages and PDFs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779EE-7422-4CE1-B3F2-80E4717E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0D0E0-A67C-4373-A1BA-6EE1695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PDF documents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7370A-922A-4B21-A868-194B267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08752-0EF0-4CA8-B203-CB88655F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C84D5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C84D5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E5F1C-38ED-422F-BA48-C1960BE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CVE findings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E60A5-741A-4D68-96C7-E7AEFA23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C0C3F-A4D8-4CAD-AD62-05E878E1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5633B-9D57-4B5C-8DDB-B722B54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on-call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E6C3D-D915-4721-8382-09DAC99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921CC-9DFB-46C7-A35D-30ACE85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EF324-B6F3-4112-8A2D-048C28DE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re-seen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BC681-49EF-4010-A670-1798B88D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84C4C-8930-4311-8EC2-232D9B0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Slack connection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45327-C7D1-4329-BC0F-5052DB55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Bot authentication, channel discovery, message reading, and PDF download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36871-3A5E-4D12-9761-17B327F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Automated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3187D-4A58-4722-BB2A-36D5FD66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PDF text extraction, CVEs, evidence windows, technology, indicators, and relevance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D0B03-0CDE-4866-9EE5-4919D98A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Durable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5BAA8-284C-41FC-AFF3-EB6239AB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72000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Local repository payloads, SQLite semantic memory, and Excel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6737F-DA1C-4B8F-94C5-5DC0AB2D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Analyst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3991C-03CD-48B2-BA45-EF8EF4B1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86350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Dashboard, searchable records, statuses, decisions, comments, and duplicate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59242-E10C-4CD2-BA19-8D432A2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2D177-D60F-42F7-AD31-E7C54A06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Latest Docker verification: 50 automated tests passed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9694B-6312-4404-9C23-9F52EFD5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8109C-80CE-4131-B473-250C809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8457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944B7-B742-4A2F-9F8A-4E67DAAF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Path to SharePoint and Power Apps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53371-C825-40C8-85E0-D597CEBA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5BFAD-6768-46D7-B0DD-EA135BA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The POC already uses the data boundaries needed for the production 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5E3E0-23FD-4849-8930-1AF760B4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A2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2A67"/>
                </a:solidFill>
                <a:latin typeface="Arial"/>
                <a:ea typeface="Arial"/>
                <a:cs typeface="Arial"/>
              </a:rPr>
              <a:t>CURRENT LOCAL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0A07A-088F-467A-B407-FA39AC56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Python stores structured payloads in local JSON, SQLite, and Excel. The local web app demonstrates the intended analyst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54CE5-B973-4091-8EA9-0FCD3685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No Microsoft work or school account required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Useful for development, testing, and manager demonstration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Same document and finding models as the target 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51B6D-8AEE-482C-AF8A-F643FBC7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37160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C516B-2998-4C25-A9AF-A06B03FE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66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PRODUCTION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96731-46F0-4A39-9BCB-21CD45CE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Python publishes structured records to SharePoint lists. Power Apps reads those lists and writes analyst comments, decisions, and status changes 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5A5B2-BE06-4B96-8F99-07B4B18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SharePoint lists for Documents, Findings, Indicators, Memory, and Feedback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Power Apps screens based on the validated prototype workflow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Future Python runs reuse analyst feedback and previous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80AA6-9E06-486A-A4E4-899543E5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610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512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EA782-E883-44F0-8846-DC9D46A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11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Recommended next step: pilot the workflow with the support team, then confirm the SharePoint schema and Power Apps build when the organization account is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357D0-D067-4C27-A583-846265D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Threat Intelligence POC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20E59-14B7-435F-B97B-C083C74A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781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7818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6517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23917-E586-4F31-8E23-C52DD652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45ACC-3376-46F0-97E8-062E6B1D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506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16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D2E07-CF20-4EB6-B34B-1EE423F6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CE6EB-0941-4367-8C76-84D80B5D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Use case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2E64C-885D-4BD3-8019-74E150E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Slack advisory intake, document memory, duplicate awareness, and analyst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7D00A-40A0-4C2E-AB3C-0035FB30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427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42774"/>
                </a:solidFill>
                <a:latin typeface="Arial"/>
                <a:ea typeface="Arial"/>
                <a:cs typeface="Arial"/>
              </a:rPr>
              <a:t>Manager demo section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8019f05894011"/>
          <a:srcRect xmlns:a="http://schemas.openxmlformats.org/drawingml/2006/main" l="23181" t="0" r="23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876300"/>
            <a:ext cx="4381500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05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32B17-23EE-46F8-A726-E4313327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9BAC-F794-4B64-BE44-9597171B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FC5AC-EC7C-4B95-AD96-2DDE4FA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A support analyst receives a threat advisory PDF in Slack and needs prior context before starting another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470AE-9947-45D3-A8E3-6A49951C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46ECD-D1A3-421A-B5E7-9BC7BA48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1286B-B427-402F-AB88-82FD5D2F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1. Advisory arrives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F959E-1585-47B3-A1B9-131DD3FD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057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Slack channel receives a PDF and structured note from the on-call team.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D97B9-FD4E-4C32-9580-8B8A2E4A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8856A-67CC-4B89-B15D-B255FB01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33389-92AE-44DA-849D-E86CD86E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2. Memory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52D5C-FBF0-46A5-8AA0-D58084FB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24100"/>
            <a:ext cx="2057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app stores the document, date, analyst note, CVEs, technologies, and duplicate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7EB08-02FC-4F75-BB6F-E02587B5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AB309-86DB-471D-A41C-14A72E6E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E4949-EDD0-4076-983B-EB873A2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812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3. Evidence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51A08-A80F-4C91-B531-399FCFAE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2057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analyst opens the document record and checks extracted evidence from the PDF.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366A2-9ECD-4F95-AC5B-10735E0C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2E9BC-AE36-444D-84B8-C8DD46A1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AB7AA-0CB4-4C96-A999-D005ACDE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4. Decision capture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F0347-2D00-458D-A44C-8179C45E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533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analyst records status, comment, and action so future reviews start with history.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1F164-15F6-484F-89D5-616D2CB5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0858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D8A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64A23-F5DD-41DF-B478-6AA387F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Manager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3F3B4-4203-47F3-8611-FE93A62D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The prototype reduces repeat analysis by keeping document-level memory that can later move to SharePoint and Power Apps.</a:t>
            </a:r>
          </a:p>
        </p:txBody>
      </p:sp>
    </p:spTree>
    <p:extLst>
      <p:ext uri="{BB962C8B-B14F-4D97-AF65-F5344CB8AC3E}">
        <p14:creationId xmlns:p14="http://schemas.microsoft.com/office/powerpoint/2010/main" val="19098350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5703B-1CE4-492C-B919-6CBEF068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Phase 1 memory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0F1C3-2E08-4B12-9FED-CB57200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9B927-3F28-4CC3-872E-A90A866E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Analysts can add notes to Slack-received documents and review prior document memory by date.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1184a63d647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85900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36E58-1817-407A-929E-D5955B1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BAA8C-73CE-4879-A72E-5F6344F6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0123C-BEDD-4936-A273-345DA5ED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What to show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B8A81-A44A-4EAB-9C2C-75A6608B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top metrics answer how many PDFs and analyst inputs exist for the selected period. The register groups memory by document, which avoids repeating the same PDF for every CVE.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61A09-6F24-48B6-A0A1-B73D530C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6035A-DDC1-4C18-9D3E-BD396B3B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F789E-A710-41CC-8233-CE063B79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4DAB3-A549-42C4-8FB6-E5E8C6D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529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A handoff analyst can see when the document arrived, what the last note said, and whether the advisory was already seen.</a:t>
            </a:r>
          </a:p>
        </p:txBody>
      </p:sp>
    </p:spTree>
    <p:extLst>
      <p:ext uri="{BB962C8B-B14F-4D97-AF65-F5344CB8AC3E}">
        <p14:creationId xmlns:p14="http://schemas.microsoft.com/office/powerpoint/2010/main" val="14976406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3400A-B608-4555-A7E4-CFB6C73A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Date and month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C1B5F-49CF-4E83-BBE4-7E3B231B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EBD26-666F-4D7B-B2B1-D0C2556A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same screens can answer daily and monthly activity questions without exporting a spreadsheet first.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d7b7cd77e4390"/>
          <a:srcRect xmlns:a="http://schemas.openxmlformats.org/drawingml/2006/main" l="8333" t="0" r="8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66850"/>
            <a:ext cx="5334000" cy="4000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41ba587c74d48"/>
          <a:srcRect xmlns:a="http://schemas.openxmlformats.org/drawingml/2006/main" l="8333" t="0" r="8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466850"/>
            <a:ext cx="53340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800CC-EACF-4E48-9661-2AE304CA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Examples: yesterday's PDFs, today's manual inputs, this month's duplicate activity, and open reviews in the selected period.</a:t>
            </a:r>
          </a:p>
        </p:txBody>
      </p:sp>
    </p:spTree>
    <p:extLst>
      <p:ext uri="{BB962C8B-B14F-4D97-AF65-F5344CB8AC3E}">
        <p14:creationId xmlns:p14="http://schemas.microsoft.com/office/powerpoint/2010/main" val="2942050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DCC0D-739A-4C47-84E2-6B5FFEBC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Document evidence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3104E-7C4C-4EBD-9E81-B3C46E0D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8D666-E80D-4548-AE93-EBEEE319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Each Slack PDF becomes a document record with status, relevance, CVE counts, and an open PDF link.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56d59e4c04c0a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66850"/>
            <a:ext cx="7524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4D25A-6662-4850-AF65-7067290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2857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FED5B-3FEA-4719-A8A5-2A813FF6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FFC2C-FB90-4BC7-89CD-59ED11E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Demo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D4F15-945D-4D43-AC98-891AFD9E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533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Open PDF link, processing status, relevance, CVE count, indicators, similar advisories, and comments.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E2AA3-44D1-452A-817A-786EABD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ED9EB-211A-4E2C-A949-5CBD6F4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D467E-097C-4392-8B5D-63CE914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SharePoint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69399-81B2-4C06-BAD2-95B9CA2E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These fields can map to SharePoint document and finding lists for Power Apps access.</a:t>
            </a:r>
          </a:p>
        </p:txBody>
      </p:sp>
    </p:spTree>
    <p:extLst>
      <p:ext uri="{BB962C8B-B14F-4D97-AF65-F5344CB8AC3E}">
        <p14:creationId xmlns:p14="http://schemas.microsoft.com/office/powerpoint/2010/main" val="14742247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EC1F7-6BC1-492F-9E09-F7DD870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Finding evidence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C3A9A-A7F4-4640-BCBC-E07C6D32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05C81-3DE7-4B54-BF91-D4019752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finding page shows why the system selected a CVE or technology, with exact PDF evidence.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7deb7f9d548b2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66850"/>
            <a:ext cx="7524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5D5F7-F662-4C7D-A8FA-2C0B4732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EF33B-8C0B-4C26-A571-AE1B9646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7E938-A648-4883-B8FD-209FBE90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What changed recently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FE8AD-CE72-483F-B558-92AEFD10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app now captures supporting evidence for threat names and technologies, not just the extracted CVE.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ED6EB-003B-45A2-93C1-46C88315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316F3-F341-45CF-9112-E2847F6D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AF931-3890-4098-B43E-14BFC1E9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Analyst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4FDD7-FEE9-4AB3-A983-1585BD10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Reviewers can record status, decision, owner, and comment. Future processing can use that memory.</a:t>
            </a:r>
          </a:p>
        </p:txBody>
      </p:sp>
    </p:spTree>
    <p:extLst>
      <p:ext uri="{BB962C8B-B14F-4D97-AF65-F5344CB8AC3E}">
        <p14:creationId xmlns:p14="http://schemas.microsoft.com/office/powerpoint/2010/main" val="901612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1A9BD-E0BC-4DB6-A16D-CCB8B68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Duplicate and related-repeat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D916F-0825-40EC-9323-24FDEE40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7038A-621F-4190-BE69-8065FCD5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prototype flags exact duplicate PDFs and can also flag different PDFs with the same CVE or technology.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DD81E-EB2A-41D7-93FE-05579D6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44D71-2517-4F4C-B886-AE9E8914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756E4-00E1-41F5-B6D8-F2A99F8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Exact duplicate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BB2AC-88DA-47E6-8166-9B76ACB9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Same Slack file or same PDF name appears again. The app records the first and later sighting.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74F6D-1F99-4C7B-8FC3-F50F1433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20CC0-5F61-4E0B-A304-BDB2B1C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B3176-43B9-4F77-B800-EC741D6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90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Related repeat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14A4E-5E10-4967-ADDC-48BFEED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3360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A different document shares a CVE or technology already seen in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A5359-B170-41DE-9110-6D2AA34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ED402-2CDF-4E67-9010-3276276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F1B3C-67F1-40CD-8157-DFC12F4D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Analyst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1201F-5B4D-49FB-8979-350CD4D7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note can show the earlier document date and latest analyst comment.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3A64A-9E0C-4080-843C-8E5F6E7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D79FE-DEB1-4145-A450-80C4D8B4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Example talking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84E7D-9037-4FA4-A60C-50A393B7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If a new PDF mentions the same Exchange CVE next month, the analyst should see prior notes before repeating the same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922592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15482-C3D2-4B61-BA79-4247B242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Power Apps target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4AD48-77B9-4ADC-9BC0-7CB59477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2C0D3-18D4-4DCA-8B69-A57E0AD8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The local prototype keeps to capabilities that can map cleanly to SharePoint lists and Power Apps screens.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36999-E79C-4942-99AB-6736470E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314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26F09-281B-4194-92F2-01ADA793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66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F5ACE-1D36-4ACC-A7CF-B0972E0E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SharePoint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9BF2C-F12C-4C95-B3CB-65C6CA80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819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Documents, findings, statuses, analyst comments, decisions, first seen, last seen, and times seen.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54B07-7049-449D-9D02-EC82D1D2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314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9C94F-2A07-4AAA-B6A5-90B6F182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66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4C4D-32A6-4F6D-AB82-6B06AB5E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716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Python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761A0-F719-4AD6-BEA4-DD9622B6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14550"/>
            <a:ext cx="2819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Slack collection, PDF download, CVE extraction, technology evidence, duplicate checks, and semantic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8788A-0F97-4AC1-AF43-0E7E1FD0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314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3D687-606F-420C-8705-B76A4665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66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68954-B540-4657-B5D1-F90FE7B6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Power Apps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D082A-C1D8-4611-BCAC-13C1C011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819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Analyst-friendly review pages for intake memory, documents, findings, and filtered activity.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D971E-B036-4210-AB38-97F4F326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1F1F"/>
                </a:solidFill>
                <a:latin typeface="Arial"/>
                <a:ea typeface="Arial"/>
                <a:cs typeface="Arial"/>
              </a:rPr>
              <a:t>Current state: local Excel/JSON/SQLite repository. Target state: SharePoint lists plus document library, with the same screen logic in Power Apps.</a:t>
            </a:r>
          </a:p>
        </p:txBody>
      </p:sp>
    </p:spTree>
    <p:extLst>
      <p:ext uri="{BB962C8B-B14F-4D97-AF65-F5344CB8AC3E}">
        <p14:creationId xmlns:p14="http://schemas.microsoft.com/office/powerpoint/2010/main" val="12355029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08959-5008-4032-B636-CA97A146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Suggested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E256F-BF4C-4EDE-9260-B5BC92EB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284EA-57D0-4DE8-A86A-312252B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Use this sequence when presenting from the deck without running the local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95A92-6BD0-4FC6-9693-E3BB672E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016DE-27D6-4764-9790-D3E7715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EF10B-C2C0-4671-B0D3-8691ED91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A018C-1B9D-43AE-A0B4-C67F92A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Current Slack notes are hard to reuse when on-call ownership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D3421-7C02-4A2A-A35C-B9D673DF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621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1ABBE-5C66-4EC9-9044-B928AD7E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621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F0714-21CD-48A0-91B2-7CDB128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733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Show the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11B05-BE13-4928-B40B-AF3EAD09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76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3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Slack PDF enters the pipeline, the app stores memory, and analysts review prior notes.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57C98-45CB-43AF-92B4-934AC89F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35601-6EBC-4C5D-B840-B322EA82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89066-85CB-4D12-A708-0D245801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33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Show the screens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62C78-0CE7-4007-9922-5C7AC1B0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3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Phase 1 memory, date filtering, document evidence, and finding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750DB-6840-404C-9523-8ED062E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0FC16-92ED-4E1E-98FF-1814315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77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9933E-F717-436F-A613-6BD4BE17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99A6F-A8CE-45F0-A3AC-6B4AD285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Ask for a SharePoint/Power Apps pilot using the same fields and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CDCA2-E465-480D-A8D4-F33A9877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F7D61-CF1C-4A9F-B7CA-5B32E209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942BC-3A04-4704-A0E3-C365D935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Optional 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46270-4C60-4893-931F-A2C96158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3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470"/>
                </a:solidFill>
                <a:latin typeface="Arial"/>
                <a:ea typeface="Arial"/>
                <a:cs typeface="Arial"/>
              </a:rPr>
              <a:t>Request a small test workspace, one SharePoint site, and sample analyst feedback.</a:t>
            </a:r>
          </a:p>
        </p:txBody>
      </p:sp>
    </p:spTree>
    <p:extLst>
      <p:ext uri="{BB962C8B-B14F-4D97-AF65-F5344CB8AC3E}">
        <p14:creationId xmlns:p14="http://schemas.microsoft.com/office/powerpoint/2010/main" val="624472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2026-10-01T00:18:05.2720000Z</dcterms:created>
  <dcterms:modified xsi:type="dcterms:W3CDTF">2026-10-01T00:18:05.2720000Z</dcterms:modified>
</coreProperties>
</file>